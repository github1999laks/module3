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256" r:id="rId2"/>
    <p:sldId id="257" r:id="rId3"/>
    <p:sldId id="258" r:id="rId4"/>
    <p:sldId id="260" r:id="rId5"/>
    <p:sldId id="261" r:id="rId6"/>
    <p:sldId id="263" r:id="rId7"/>
    <p:sldId id="264" r:id="rId8"/>
    <p:sldId id="265" r:id="rId9"/>
    <p:sldId id="266" r:id="rId10"/>
    <p:sldId id="267" r:id="rId11"/>
    <p:sldId id="268" r:id="rId12"/>
    <p:sldId id="277" r:id="rId13"/>
    <p:sldId id="278" r:id="rId14"/>
    <p:sldId id="279" r:id="rId15"/>
    <p:sldId id="280" r:id="rId16"/>
    <p:sldId id="282" r:id="rId17"/>
    <p:sldId id="283" r:id="rId18"/>
    <p:sldId id="281" r:id="rId19"/>
    <p:sldId id="284" r:id="rId20"/>
    <p:sldId id="285" r:id="rId21"/>
    <p:sldId id="286" r:id="rId22"/>
    <p:sldId id="292" r:id="rId23"/>
    <p:sldId id="287" r:id="rId24"/>
    <p:sldId id="291" r:id="rId25"/>
    <p:sldId id="288" r:id="rId26"/>
    <p:sldId id="296" r:id="rId27"/>
    <p:sldId id="293" r:id="rId28"/>
    <p:sldId id="294" r:id="rId29"/>
    <p:sldId id="289" r:id="rId30"/>
    <p:sldId id="290" r:id="rId31"/>
    <p:sldId id="297" r:id="rId32"/>
    <p:sldId id="304" r:id="rId33"/>
    <p:sldId id="305" r:id="rId34"/>
    <p:sldId id="306" r:id="rId35"/>
    <p:sldId id="308" r:id="rId36"/>
    <p:sldId id="309" r:id="rId37"/>
    <p:sldId id="310" r:id="rId38"/>
    <p:sldId id="311" r:id="rId39"/>
    <p:sldId id="312" r:id="rId40"/>
    <p:sldId id="313" r:id="rId41"/>
    <p:sldId id="314" r:id="rId42"/>
    <p:sldId id="315" r:id="rId43"/>
    <p:sldId id="316" r:id="rId44"/>
    <p:sldId id="327" r:id="rId45"/>
    <p:sldId id="328" r:id="rId46"/>
    <p:sldId id="317" r:id="rId47"/>
    <p:sldId id="318" r:id="rId48"/>
    <p:sldId id="319" r:id="rId49"/>
    <p:sldId id="320" r:id="rId50"/>
    <p:sldId id="321" r:id="rId51"/>
    <p:sldId id="322" r:id="rId52"/>
    <p:sldId id="323" r:id="rId53"/>
    <p:sldId id="324" r:id="rId54"/>
    <p:sldId id="325" r:id="rId55"/>
    <p:sldId id="326" r:id="rId56"/>
    <p:sldId id="329" r:id="rId57"/>
    <p:sldId id="330" r:id="rId58"/>
    <p:sldId id="331" r:id="rId59"/>
    <p:sldId id="332" r:id="rId60"/>
    <p:sldId id="333" r:id="rId61"/>
    <p:sldId id="334" r:id="rId62"/>
    <p:sldId id="335" r:id="rId63"/>
    <p:sldId id="336" r:id="rId64"/>
    <p:sldId id="337" r:id="rId65"/>
    <p:sldId id="338"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352"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0878" autoAdjust="0"/>
    <p:restoredTop sz="94660"/>
  </p:normalViewPr>
  <p:slideViewPr>
    <p:cSldViewPr snapToGrid="0">
      <p:cViewPr varScale="1">
        <p:scale>
          <a:sx n="80" d="100"/>
          <a:sy n="80" d="100"/>
        </p:scale>
        <p:origin x="53" y="31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CD154A-D476-4807-A15B-F47955DE0E41}" type="datetimeFigureOut">
              <a:rPr lang="en-US" smtClean="0"/>
              <a:pPr/>
              <a:t>7/19/2021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28073-31AD-4617-ACAC-069E6EBFBB31}" type="slidenum">
              <a:rPr lang="en-US" smtClean="0"/>
              <a:pPr/>
              <a:t>‹#›</a:t>
            </a:fld>
            <a:endParaRPr lang="en-US"/>
          </a:p>
        </p:txBody>
      </p:sp>
    </p:spTree>
    <p:extLst>
      <p:ext uri="{BB962C8B-B14F-4D97-AF65-F5344CB8AC3E}">
        <p14:creationId xmlns:p14="http://schemas.microsoft.com/office/powerpoint/2010/main" val="2488174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E52385-F789-42A7-A37F-53A3B10E60FE}" type="datetime1">
              <a:rPr lang="en-US" smtClean="0"/>
              <a:pPr/>
              <a:t>7/19/2021</a:t>
            </a:fld>
            <a:endParaRPr lang="en-US"/>
          </a:p>
        </p:txBody>
      </p:sp>
      <p:sp>
        <p:nvSpPr>
          <p:cNvPr id="5" name="Footer Placeholder 4"/>
          <p:cNvSpPr>
            <a:spLocks noGrp="1"/>
          </p:cNvSpPr>
          <p:nvPr>
            <p:ph type="ftr" sz="quarter" idx="11"/>
          </p:nvPr>
        </p:nvSpPr>
        <p:spPr>
          <a:xfrm>
            <a:off x="2416500" y="329307"/>
            <a:ext cx="4973915" cy="309201"/>
          </a:xfrm>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a:xfrm>
            <a:off x="1437664" y="798973"/>
            <a:ext cx="811019" cy="503578"/>
          </a:xfrm>
        </p:spPr>
        <p:txBody>
          <a:bodyPr/>
          <a:lstStyle/>
          <a:p>
            <a:fld id="{FB7790B4-587B-4F15-B8F8-E8B356402522}"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8125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D653F4-1CCF-4B2D-814C-9DB98B8A4B70}" type="datetime1">
              <a:rPr lang="en-US" smtClean="0"/>
              <a:pPr/>
              <a:t>7/19/2021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FB7790B4-587B-4F15-B8F8-E8B356402522}"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289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8348A77-C239-4F2B-9052-2C59DE71DACD}" type="datetime1">
              <a:rPr lang="en-US" smtClean="0"/>
              <a:pPr/>
              <a:t>7/19/2021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FB7790B4-587B-4F15-B8F8-E8B356402522}"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73232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43698C-ED52-44A0-9FBB-48852A50EC40}" type="datetime1">
              <a:rPr lang="en-US" smtClean="0"/>
              <a:pPr/>
              <a:t>7/19/2021</a:t>
            </a:fld>
            <a:endParaRPr lang="en-US"/>
          </a:p>
        </p:txBody>
      </p:sp>
      <p:sp>
        <p:nvSpPr>
          <p:cNvPr id="6" name="Footer Placeholder 5"/>
          <p:cNvSpPr>
            <a:spLocks noGrp="1"/>
          </p:cNvSpPr>
          <p:nvPr>
            <p:ph type="ftr" sz="quarter" idx="11"/>
          </p:nvPr>
        </p:nvSpPr>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FB7790B4-587B-4F15-B8F8-E8B356402522}"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9977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C28B28-E493-4549-8FA2-807F2756DB36}" type="datetime1">
              <a:rPr lang="en-US" smtClean="0"/>
              <a:pPr/>
              <a:t>7/19/2021</a:t>
            </a:fld>
            <a:endParaRPr lang="en-US"/>
          </a:p>
        </p:txBody>
      </p:sp>
      <p:sp>
        <p:nvSpPr>
          <p:cNvPr id="8" name="Footer Placeholder 7"/>
          <p:cNvSpPr>
            <a:spLocks noGrp="1"/>
          </p:cNvSpPr>
          <p:nvPr>
            <p:ph type="ftr" sz="quarter" idx="11"/>
          </p:nvPr>
        </p:nvSpPr>
        <p:spPr/>
        <p:txBody>
          <a:bodyPr/>
          <a:lstStyle/>
          <a:p>
            <a:r>
              <a:rPr lang="en-US"/>
              <a:t>Prepared by Jetty Benjamin,Assistant Professor ,Amal Jyothi College Of Engineering,Kanjirappally</a:t>
            </a:r>
          </a:p>
        </p:txBody>
      </p:sp>
      <p:sp>
        <p:nvSpPr>
          <p:cNvPr id="9" name="Slide Number Placeholder 8"/>
          <p:cNvSpPr>
            <a:spLocks noGrp="1"/>
          </p:cNvSpPr>
          <p:nvPr>
            <p:ph type="sldNum" sz="quarter" idx="12"/>
          </p:nvPr>
        </p:nvSpPr>
        <p:spPr/>
        <p:txBody>
          <a:bodyPr/>
          <a:lstStyle/>
          <a:p>
            <a:fld id="{FB7790B4-587B-4F15-B8F8-E8B356402522}"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11128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473AC8-2146-4C22-A6C8-C9F197C28C1A}" type="datetime1">
              <a:rPr lang="en-US" smtClean="0"/>
              <a:pPr/>
              <a:t>7/19/2021</a:t>
            </a:fld>
            <a:endParaRPr lang="en-US"/>
          </a:p>
        </p:txBody>
      </p:sp>
      <p:sp>
        <p:nvSpPr>
          <p:cNvPr id="4" name="Footer Placeholder 3"/>
          <p:cNvSpPr>
            <a:spLocks noGrp="1"/>
          </p:cNvSpPr>
          <p:nvPr>
            <p:ph type="ftr" sz="quarter" idx="11"/>
          </p:nvPr>
        </p:nvSpPr>
        <p:spPr/>
        <p:txBody>
          <a:bodyPr/>
          <a:lstStyle/>
          <a:p>
            <a:r>
              <a:rPr lang="en-US"/>
              <a:t>Prepared by Jetty Benjamin,Assistant Professor ,Amal Jyothi College Of Engineering,Kanjirappally</a:t>
            </a:r>
          </a:p>
        </p:txBody>
      </p:sp>
      <p:sp>
        <p:nvSpPr>
          <p:cNvPr id="5" name="Slide Number Placeholder 4"/>
          <p:cNvSpPr>
            <a:spLocks noGrp="1"/>
          </p:cNvSpPr>
          <p:nvPr>
            <p:ph type="sldNum" sz="quarter" idx="12"/>
          </p:nvPr>
        </p:nvSpPr>
        <p:spPr/>
        <p:txBody>
          <a:bodyPr/>
          <a:lstStyle/>
          <a:p>
            <a:fld id="{FB7790B4-587B-4F15-B8F8-E8B356402522}"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2076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A9CB73-4A0E-4BD4-BBD9-2162D48B1194}" type="datetime1">
              <a:rPr lang="en-US" smtClean="0"/>
              <a:pPr/>
              <a:t>7/19/2021</a:t>
            </a:fld>
            <a:endParaRPr lang="en-US"/>
          </a:p>
        </p:txBody>
      </p:sp>
      <p:sp>
        <p:nvSpPr>
          <p:cNvPr id="3" name="Footer Placeholder 2"/>
          <p:cNvSpPr>
            <a:spLocks noGrp="1"/>
          </p:cNvSpPr>
          <p:nvPr>
            <p:ph type="ftr" sz="quarter" idx="11"/>
          </p:nvPr>
        </p:nvSpPr>
        <p:spPr/>
        <p:txBody>
          <a:bodyPr/>
          <a:lstStyle/>
          <a:p>
            <a:r>
              <a:rPr lang="en-US"/>
              <a:t>Prepared by Jetty Benjamin,Assistant Professor ,Amal Jyothi College Of Engineering,Kanjirappally</a:t>
            </a:r>
          </a:p>
        </p:txBody>
      </p:sp>
      <p:sp>
        <p:nvSpPr>
          <p:cNvPr id="4" name="Slide Number Placeholder 3"/>
          <p:cNvSpPr>
            <a:spLocks noGrp="1"/>
          </p:cNvSpPr>
          <p:nvPr>
            <p:ph type="sldNum" sz="quarter" idx="12"/>
          </p:nvPr>
        </p:nvSpPr>
        <p:spPr/>
        <p:txBody>
          <a:bodyPr/>
          <a:lstStyle/>
          <a:p>
            <a:fld id="{FB7790B4-587B-4F15-B8F8-E8B356402522}" type="slidenum">
              <a:rPr lang="en-US" smtClean="0"/>
              <a:pPr/>
              <a:t>‹#›</a:t>
            </a:fld>
            <a:endParaRPr lang="en-US"/>
          </a:p>
        </p:txBody>
      </p:sp>
    </p:spTree>
    <p:extLst>
      <p:ext uri="{BB962C8B-B14F-4D97-AF65-F5344CB8AC3E}">
        <p14:creationId xmlns:p14="http://schemas.microsoft.com/office/powerpoint/2010/main" val="1474629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15629ED-701B-457C-A5AB-7ABC2CE6BDBD}" type="datetime1">
              <a:rPr lang="en-US" smtClean="0"/>
              <a:pPr/>
              <a:t>7/19/2021</a:t>
            </a:fld>
            <a:endParaRPr lang="en-US"/>
          </a:p>
        </p:txBody>
      </p:sp>
      <p:sp>
        <p:nvSpPr>
          <p:cNvPr id="6" name="Footer Placeholder 5"/>
          <p:cNvSpPr>
            <a:spLocks noGrp="1"/>
          </p:cNvSpPr>
          <p:nvPr>
            <p:ph type="ftr" sz="quarter" idx="11"/>
          </p:nvPr>
        </p:nvSpPr>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FB7790B4-587B-4F15-B8F8-E8B356402522}"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6011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E65B861-0303-41F5-B169-4D0C32807F20}" type="datetime1">
              <a:rPr lang="en-US" smtClean="0"/>
              <a:pPr/>
              <a:t>7/19/2021</a:t>
            </a:fld>
            <a:endParaRPr lang="en-US"/>
          </a:p>
        </p:txBody>
      </p:sp>
      <p:sp>
        <p:nvSpPr>
          <p:cNvPr id="6" name="Footer Placeholder 5"/>
          <p:cNvSpPr>
            <a:spLocks noGrp="1"/>
          </p:cNvSpPr>
          <p:nvPr>
            <p:ph type="ftr" sz="quarter" idx="11"/>
          </p:nvPr>
        </p:nvSpPr>
        <p:spPr>
          <a:xfrm>
            <a:off x="1447382" y="318640"/>
            <a:ext cx="5541004" cy="320931"/>
          </a:xfrm>
        </p:spPr>
        <p:txBody>
          <a:bodyPr/>
          <a:lstStyle/>
          <a:p>
            <a:r>
              <a:rPr lang="en-US"/>
              <a:t>Prepared by Jetty Benjamin,Assistant Professor ,Amal Jyothi College Of Engineering,Kanjirappally</a:t>
            </a:r>
          </a:p>
        </p:txBody>
      </p:sp>
      <p:sp>
        <p:nvSpPr>
          <p:cNvPr id="7" name="Slide Number Placeholder 6"/>
          <p:cNvSpPr>
            <a:spLocks noGrp="1"/>
          </p:cNvSpPr>
          <p:nvPr>
            <p:ph type="sldNum" sz="quarter" idx="12"/>
          </p:nvPr>
        </p:nvSpPr>
        <p:spPr/>
        <p:txBody>
          <a:bodyPr/>
          <a:lstStyle/>
          <a:p>
            <a:fld id="{FB7790B4-587B-4F15-B8F8-E8B356402522}" type="slidenum">
              <a:rPr lang="en-US" smtClean="0"/>
              <a:pPr/>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8021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87249A-F2E2-49FA-811C-81E2E12979DE}" type="datetime1">
              <a:rPr lang="en-US" smtClean="0"/>
              <a:pPr/>
              <a:t>7/19/2021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FB7790B4-587B-4F15-B8F8-E8B356402522}"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0719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5B524D-8D31-4C28-937C-9852EA527E1D}" type="datetime1">
              <a:rPr lang="en-US" smtClean="0"/>
              <a:pPr/>
              <a:t>7/19/2021</a:t>
            </a:fld>
            <a:endParaRPr lang="en-US"/>
          </a:p>
        </p:txBody>
      </p:sp>
      <p:sp>
        <p:nvSpPr>
          <p:cNvPr id="5" name="Footer Placeholder 4"/>
          <p:cNvSpPr>
            <a:spLocks noGrp="1"/>
          </p:cNvSpPr>
          <p:nvPr>
            <p:ph type="ftr" sz="quarter" idx="11"/>
          </p:nvPr>
        </p:nvSpPr>
        <p:spPr/>
        <p:txBody>
          <a:bodyPr/>
          <a:lstStyle/>
          <a:p>
            <a:r>
              <a:rPr lang="en-US"/>
              <a:t>Prepared by Jetty Benjamin,Assistant Professor ,Amal Jyothi College Of Engineering,Kanjirappally</a:t>
            </a:r>
          </a:p>
        </p:txBody>
      </p:sp>
      <p:sp>
        <p:nvSpPr>
          <p:cNvPr id="6" name="Slide Number Placeholder 5"/>
          <p:cNvSpPr>
            <a:spLocks noGrp="1"/>
          </p:cNvSpPr>
          <p:nvPr>
            <p:ph type="sldNum" sz="quarter" idx="12"/>
          </p:nvPr>
        </p:nvSpPr>
        <p:spPr/>
        <p:txBody>
          <a:bodyPr/>
          <a:lstStyle/>
          <a:p>
            <a:fld id="{FB7790B4-587B-4F15-B8F8-E8B356402522}"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1943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82F01FE-DC85-4B29-A32A-34DF975BC089}" type="datetime1">
              <a:rPr lang="en-US" smtClean="0"/>
              <a:pPr/>
              <a:t>7/19/2021</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Prepared by Jetty Benjamin,Assistant Professor ,Amal Jyothi College Of Engineering,Kanjirappally</a:t>
            </a: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B7790B4-587B-4F15-B8F8-E8B356402522}"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6303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en.wikipedia.org/wiki/Jython"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MODULE 3</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125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 Deployment Pipeline?</a:t>
            </a:r>
          </a:p>
        </p:txBody>
      </p:sp>
      <p:sp>
        <p:nvSpPr>
          <p:cNvPr id="5" name="Content Placeholder 4"/>
          <p:cNvSpPr>
            <a:spLocks noGrp="1"/>
          </p:cNvSpPr>
          <p:nvPr>
            <p:ph idx="1"/>
          </p:nvPr>
        </p:nvSpPr>
        <p:spPr/>
        <p:txBody>
          <a:bodyPr>
            <a:normAutofit/>
          </a:bodyPr>
          <a:lstStyle/>
          <a:p>
            <a:r>
              <a:rPr lang="en-US" dirty="0"/>
              <a:t> </a:t>
            </a:r>
            <a:r>
              <a:rPr lang="en-US" sz="2800" dirty="0">
                <a:latin typeface="Times New Roman" panose="02020603050405020304" pitchFamily="18" charset="0"/>
                <a:cs typeface="Times New Roman" panose="02020603050405020304" pitchFamily="18" charset="0"/>
              </a:rPr>
              <a:t>A deployment pipeline is an automated manifestation of the </a:t>
            </a:r>
            <a:r>
              <a:rPr lang="en-US" sz="2800" dirty="0">
                <a:solidFill>
                  <a:srgbClr val="FF0000"/>
                </a:solidFill>
                <a:latin typeface="Times New Roman" panose="02020603050405020304" pitchFamily="18" charset="0"/>
                <a:cs typeface="Times New Roman" panose="02020603050405020304" pitchFamily="18" charset="0"/>
              </a:rPr>
              <a:t>process </a:t>
            </a:r>
            <a:r>
              <a:rPr lang="en-US" sz="2800" dirty="0">
                <a:latin typeface="Times New Roman" panose="02020603050405020304" pitchFamily="18" charset="0"/>
                <a:cs typeface="Times New Roman" panose="02020603050405020304" pitchFamily="18" charset="0"/>
              </a:rPr>
              <a:t>for getting software from version control into the hands of your users.</a:t>
            </a:r>
          </a:p>
          <a:p>
            <a:r>
              <a:rPr lang="en-US" sz="2800" dirty="0">
                <a:latin typeface="Times New Roman" panose="02020603050405020304" pitchFamily="18" charset="0"/>
                <a:cs typeface="Times New Roman" panose="02020603050405020304" pitchFamily="18" charset="0"/>
              </a:rPr>
              <a:t> Process involves building the software, followed by the progress of these builds through multiple stages of testing and deployment</a:t>
            </a:r>
          </a:p>
        </p:txBody>
      </p:sp>
    </p:spTree>
    <p:extLst>
      <p:ext uri="{BB962C8B-B14F-4D97-AF65-F5344CB8AC3E}">
        <p14:creationId xmlns:p14="http://schemas.microsoft.com/office/powerpoint/2010/main" val="757322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497808"/>
          </a:xfrm>
        </p:spPr>
        <p:txBody>
          <a:bodyPr>
            <a:normAutofit fontScale="90000"/>
          </a:bodyPr>
          <a:lstStyle/>
          <a:p>
            <a:r>
              <a:rPr lang="en-US" sz="2400" dirty="0"/>
              <a:t>What Is a Deployment Pipeline</a:t>
            </a:r>
            <a:r>
              <a:rPr lang="en-US" dirty="0"/>
              <a:t>?</a:t>
            </a:r>
          </a:p>
        </p:txBody>
      </p:sp>
      <p:sp>
        <p:nvSpPr>
          <p:cNvPr id="3" name="Content Placeholder 2"/>
          <p:cNvSpPr>
            <a:spLocks noGrp="1"/>
          </p:cNvSpPr>
          <p:nvPr>
            <p:ph idx="1"/>
          </p:nvPr>
        </p:nvSpPr>
        <p:spPr>
          <a:xfrm>
            <a:off x="1451579" y="1953491"/>
            <a:ext cx="9603275" cy="3512854"/>
          </a:xfrm>
        </p:spPr>
        <p:txBody>
          <a:bodyPr/>
          <a:lstStyle/>
          <a:p>
            <a:r>
              <a:rPr lang="en-US" sz="2400" dirty="0">
                <a:latin typeface="Times New Roman" panose="02020603050405020304" pitchFamily="18" charset="0"/>
                <a:cs typeface="Times New Roman" panose="02020603050405020304" pitchFamily="18" charset="0"/>
              </a:rPr>
              <a:t>The input to the pipeline is a particular revision in version control.</a:t>
            </a:r>
          </a:p>
          <a:p>
            <a:r>
              <a:rPr lang="en-US" sz="2400" dirty="0">
                <a:latin typeface="Times New Roman" panose="02020603050405020304" pitchFamily="18" charset="0"/>
                <a:cs typeface="Times New Roman" panose="02020603050405020304" pitchFamily="18" charset="0"/>
              </a:rPr>
              <a:t>Every change creates a build that will, pass through a sequence of tests .</a:t>
            </a:r>
          </a:p>
          <a:p>
            <a:r>
              <a:rPr lang="en-US" sz="2400" dirty="0">
                <a:latin typeface="Times New Roman" panose="02020603050405020304" pitchFamily="18" charset="0"/>
                <a:cs typeface="Times New Roman" panose="02020603050405020304" pitchFamily="18" charset="0"/>
              </a:rPr>
              <a:t>This process of a sequence of test stages, each evaluating the build from a different perspective, is begun with every commit to the version control system</a:t>
            </a:r>
          </a:p>
          <a:p>
            <a:endParaRPr lang="en-US" dirty="0"/>
          </a:p>
        </p:txBody>
      </p:sp>
    </p:spTree>
    <p:extLst>
      <p:ext uri="{BB962C8B-B14F-4D97-AF65-F5344CB8AC3E}">
        <p14:creationId xmlns:p14="http://schemas.microsoft.com/office/powerpoint/2010/main" val="2490750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301" y="99844"/>
            <a:ext cx="9603275" cy="1049235"/>
          </a:xfrm>
        </p:spPr>
        <p:txBody>
          <a:bodyPr>
            <a:normAutofit/>
          </a:bodyPr>
          <a:lstStyle/>
          <a:p>
            <a:r>
              <a:rPr lang="en-US" sz="2400" dirty="0">
                <a:latin typeface="Times New Roman" panose="02020603050405020304" pitchFamily="18" charset="0"/>
                <a:cs typeface="Times New Roman" panose="02020603050405020304" pitchFamily="18" charset="0"/>
              </a:rPr>
              <a:t>Changes moving through the deployment pipeline</a:t>
            </a:r>
            <a:endParaRPr lang="en-US" sz="24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4600" y="904741"/>
            <a:ext cx="7162800" cy="5500254"/>
          </a:xfrm>
        </p:spPr>
      </p:pic>
    </p:spTree>
    <p:extLst>
      <p:ext uri="{BB962C8B-B14F-4D97-AF65-F5344CB8AC3E}">
        <p14:creationId xmlns:p14="http://schemas.microsoft.com/office/powerpoint/2010/main" val="360039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58157" y="224071"/>
            <a:ext cx="9604375" cy="4302125"/>
          </a:xfrm>
        </p:spPr>
        <p:txBody>
          <a:bodyPr>
            <a:normAutofit/>
          </a:bodyPr>
          <a:lstStyle/>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 the build passes conﬁdence in it increases.</a:t>
            </a:r>
          </a:p>
          <a:p>
            <a:r>
              <a:rPr lang="en-US" sz="2800" dirty="0">
                <a:latin typeface="Times New Roman" panose="02020603050405020304" pitchFamily="18" charset="0"/>
                <a:cs typeface="Times New Roman" panose="02020603050405020304" pitchFamily="18" charset="0"/>
              </a:rPr>
              <a:t>Environments the build passes through become progressively more production like.</a:t>
            </a:r>
          </a:p>
          <a:p>
            <a:r>
              <a:rPr lang="en-US" sz="2800" dirty="0">
                <a:latin typeface="Times New Roman" panose="02020603050405020304" pitchFamily="18" charset="0"/>
                <a:cs typeface="Times New Roman" panose="02020603050405020304" pitchFamily="18" charset="0"/>
              </a:rPr>
              <a:t>Any build that fails a stage in the process will not generally be promoted to the next.</a:t>
            </a:r>
          </a:p>
        </p:txBody>
      </p:sp>
    </p:spTree>
    <p:extLst>
      <p:ext uri="{BB962C8B-B14F-4D97-AF65-F5344CB8AC3E}">
        <p14:creationId xmlns:p14="http://schemas.microsoft.com/office/powerpoint/2010/main" val="1398593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95052" y="534040"/>
            <a:ext cx="9604375" cy="4176713"/>
          </a:xfrm>
        </p:spPr>
        <p:txBody>
          <a:bodyPr>
            <a:normAutofit/>
          </a:bodyPr>
          <a:lstStyle/>
          <a:p>
            <a:pPr marL="0" indent="0">
              <a:buNone/>
            </a:pPr>
            <a:r>
              <a:rPr lang="en-US" sz="2400" u="sng" dirty="0">
                <a:latin typeface="Times New Roman" panose="02020603050405020304" pitchFamily="18" charset="0"/>
                <a:cs typeface="Times New Roman" panose="02020603050405020304" pitchFamily="18" charset="0"/>
              </a:rPr>
              <a:t>Consequences of applying this pattern(Previous figure deployment pipeline</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Prevented from releasing into production builds that are not thoroughly tested and found to be ﬁt for their intended purpose.</a:t>
            </a: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When deployment and production release themselves are automated, they are rapid, repeatable, and reliable.</a:t>
            </a:r>
          </a:p>
        </p:txBody>
      </p:sp>
    </p:spTree>
    <p:extLst>
      <p:ext uri="{BB962C8B-B14F-4D97-AF65-F5344CB8AC3E}">
        <p14:creationId xmlns:p14="http://schemas.microsoft.com/office/powerpoint/2010/main" val="282572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93049" y="473673"/>
            <a:ext cx="9604375" cy="4413250"/>
          </a:xfrm>
        </p:spPr>
        <p:txBody>
          <a:bodyPr>
            <a:normAutofit lnSpcReduction="10000"/>
          </a:bodyPr>
          <a:lstStyle/>
          <a:p>
            <a:pPr marL="0" indent="0">
              <a:buNone/>
            </a:pPr>
            <a:r>
              <a:rPr lang="en-US" sz="3200" u="sng" dirty="0">
                <a:latin typeface="Times New Roman" panose="02020603050405020304" pitchFamily="18" charset="0"/>
                <a:cs typeface="Times New Roman" panose="02020603050405020304" pitchFamily="18" charset="0"/>
              </a:rPr>
              <a:t>Stages of Deployment Pipeline</a:t>
            </a:r>
          </a:p>
          <a:p>
            <a:pPr marL="0" indent="0">
              <a:buNone/>
            </a:pPr>
            <a:r>
              <a:rPr lang="en-US" sz="2800" dirty="0">
                <a:latin typeface="Times New Roman" panose="02020603050405020304" pitchFamily="18" charset="0"/>
                <a:cs typeface="Times New Roman" panose="02020603050405020304" pitchFamily="18" charset="0"/>
              </a:rPr>
              <a:t>1.The </a:t>
            </a:r>
            <a:r>
              <a:rPr lang="en-US" sz="2800" b="1" dirty="0">
                <a:latin typeface="Times New Roman" panose="02020603050405020304" pitchFamily="18" charset="0"/>
                <a:cs typeface="Times New Roman" panose="02020603050405020304" pitchFamily="18" charset="0"/>
              </a:rPr>
              <a:t>commit stage </a:t>
            </a:r>
            <a:r>
              <a:rPr lang="en-US" sz="2800" dirty="0">
                <a:latin typeface="Times New Roman" panose="02020603050405020304" pitchFamily="18" charset="0"/>
                <a:cs typeface="Times New Roman" panose="02020603050405020304" pitchFamily="18" charset="0"/>
              </a:rPr>
              <a:t>asserts that the system works at the technical level. It compiles, passes a suite of (primarily unit-level) automated tests, and runs code analysis. </a:t>
            </a:r>
          </a:p>
          <a:p>
            <a:pPr marL="0" indent="0">
              <a:buNone/>
            </a:pPr>
            <a:r>
              <a:rPr lang="en-US" sz="28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Automated acceptance test stages </a:t>
            </a:r>
            <a:r>
              <a:rPr lang="en-US" sz="2800" dirty="0">
                <a:latin typeface="Times New Roman" panose="02020603050405020304" pitchFamily="18" charset="0"/>
                <a:cs typeface="Times New Roman" panose="02020603050405020304" pitchFamily="18" charset="0"/>
              </a:rPr>
              <a:t>assert that the system works at the functional and nonfunctional level, that behaviorally it meets the needs of its users and the speciﬁcations of the customer</a:t>
            </a:r>
          </a:p>
        </p:txBody>
      </p:sp>
    </p:spTree>
    <p:extLst>
      <p:ext uri="{BB962C8B-B14F-4D97-AF65-F5344CB8AC3E}">
        <p14:creationId xmlns:p14="http://schemas.microsoft.com/office/powerpoint/2010/main" val="101190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59493" y="501576"/>
            <a:ext cx="9604375" cy="4984823"/>
          </a:xfrm>
        </p:spPr>
        <p:txBody>
          <a:bodyPr>
            <a:normAutofit fontScale="92500"/>
          </a:bodyPr>
          <a:lstStyle/>
          <a:p>
            <a:pPr marL="0" indent="0">
              <a:buNone/>
            </a:pPr>
            <a:r>
              <a:rPr lang="en-US" sz="3000" dirty="0"/>
              <a:t>3. </a:t>
            </a:r>
            <a:r>
              <a:rPr lang="en-US" sz="3000" b="1" dirty="0">
                <a:latin typeface="Times New Roman" panose="02020603050405020304" pitchFamily="18" charset="0"/>
                <a:cs typeface="Times New Roman" panose="02020603050405020304" pitchFamily="18" charset="0"/>
              </a:rPr>
              <a:t>Manual test stages </a:t>
            </a:r>
            <a:r>
              <a:rPr lang="en-US" sz="3000" dirty="0">
                <a:latin typeface="Times New Roman" panose="02020603050405020304" pitchFamily="18" charset="0"/>
                <a:cs typeface="Times New Roman" panose="02020603050405020304" pitchFamily="18" charset="0"/>
              </a:rPr>
              <a:t>assert that the system is usable and fulﬁlls its requirements, detect any defects not caught by automated tests, and verify that it provides value to its users. These stages might typically include exploratory testing environments, integration environments, and UAT (user acceptance testing). </a:t>
            </a:r>
          </a:p>
          <a:p>
            <a:pPr marL="0" indent="0">
              <a:buNone/>
            </a:pPr>
            <a:r>
              <a:rPr lang="en-US" sz="3000" dirty="0">
                <a:latin typeface="Times New Roman" panose="02020603050405020304" pitchFamily="18" charset="0"/>
                <a:cs typeface="Times New Roman" panose="02020603050405020304" pitchFamily="18" charset="0"/>
              </a:rPr>
              <a:t>4. </a:t>
            </a:r>
            <a:r>
              <a:rPr lang="en-US" sz="3000" b="1" dirty="0">
                <a:latin typeface="Times New Roman" panose="02020603050405020304" pitchFamily="18" charset="0"/>
                <a:cs typeface="Times New Roman" panose="02020603050405020304" pitchFamily="18" charset="0"/>
              </a:rPr>
              <a:t>Release stage </a:t>
            </a:r>
            <a:r>
              <a:rPr lang="en-US" sz="3000" dirty="0">
                <a:latin typeface="Times New Roman" panose="02020603050405020304" pitchFamily="18" charset="0"/>
                <a:cs typeface="Times New Roman" panose="02020603050405020304" pitchFamily="18" charset="0"/>
              </a:rPr>
              <a:t>delivers the system to users, either as packaged software or by deploying it into a production or staging environment (a staging environment is a testing environment identical to the production environment).</a:t>
            </a:r>
          </a:p>
          <a:p>
            <a:endParaRPr lang="en-US" dirty="0"/>
          </a:p>
        </p:txBody>
      </p:sp>
    </p:spTree>
    <p:extLst>
      <p:ext uri="{BB962C8B-B14F-4D97-AF65-F5344CB8AC3E}">
        <p14:creationId xmlns:p14="http://schemas.microsoft.com/office/powerpoint/2010/main" val="897586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3673" y="166255"/>
            <a:ext cx="10071181" cy="1687499"/>
          </a:xfrm>
        </p:spPr>
        <p:txBody>
          <a:bodyPr>
            <a:normAutofit/>
          </a:bodyPr>
          <a:lstStyle/>
          <a:p>
            <a:r>
              <a:rPr lang="en-US" sz="2800" dirty="0"/>
              <a:t>A Basic Deployment Pipeline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673" y="665018"/>
            <a:ext cx="10210800" cy="6345382"/>
          </a:xfrm>
        </p:spPr>
      </p:pic>
    </p:spTree>
    <p:extLst>
      <p:ext uri="{BB962C8B-B14F-4D97-AF65-F5344CB8AC3E}">
        <p14:creationId xmlns:p14="http://schemas.microsoft.com/office/powerpoint/2010/main" val="639629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26605" y="612396"/>
            <a:ext cx="9604375" cy="4891088"/>
          </a:xfrm>
        </p:spPr>
        <p:txBody>
          <a:bodyPr>
            <a:normAutofit/>
          </a:bodyPr>
          <a:lstStyle/>
          <a:p>
            <a:r>
              <a:rPr lang="en-US" sz="2400" dirty="0">
                <a:latin typeface="Times New Roman" panose="02020603050405020304" pitchFamily="18" charset="0"/>
                <a:cs typeface="Times New Roman" panose="02020603050405020304" pitchFamily="18" charset="0"/>
              </a:rPr>
              <a:t>The process starts with the developers committing changes into their version control system.</a:t>
            </a:r>
          </a:p>
          <a:p>
            <a:r>
              <a:rPr lang="en-US" sz="2400" dirty="0">
                <a:latin typeface="Times New Roman" panose="02020603050405020304" pitchFamily="18" charset="0"/>
                <a:cs typeface="Times New Roman" panose="02020603050405020304" pitchFamily="18" charset="0"/>
              </a:rPr>
              <a:t>The continuous integration management system responds to the commit by triggering a new instance of our pipeline.</a:t>
            </a:r>
          </a:p>
          <a:p>
            <a:r>
              <a:rPr lang="en-US" sz="2400" dirty="0">
                <a:latin typeface="Times New Roman" panose="02020603050405020304" pitchFamily="18" charset="0"/>
                <a:cs typeface="Times New Roman" panose="02020603050405020304" pitchFamily="18" charset="0"/>
              </a:rPr>
              <a:t>The ﬁrst (commit) stage of the pipeline compiles the code, runs unit tests, performs code analysis, and creates installers.</a:t>
            </a:r>
          </a:p>
          <a:p>
            <a:r>
              <a:rPr lang="en-US" sz="2400" dirty="0">
                <a:latin typeface="Times New Roman" panose="02020603050405020304" pitchFamily="18" charset="0"/>
                <a:cs typeface="Times New Roman" panose="02020603050405020304" pitchFamily="18" charset="0"/>
              </a:rPr>
              <a:t>If the unit tests is passed and the code is up to scratch, we assemble the executable code into binaries and store them in an </a:t>
            </a:r>
            <a:r>
              <a:rPr lang="en-US" sz="2400" dirty="0">
                <a:solidFill>
                  <a:srgbClr val="FF0000"/>
                </a:solidFill>
                <a:latin typeface="Times New Roman" panose="02020603050405020304" pitchFamily="18" charset="0"/>
                <a:cs typeface="Times New Roman" panose="02020603050405020304" pitchFamily="18" charset="0"/>
              </a:rPr>
              <a:t>artifact repository</a:t>
            </a:r>
          </a:p>
        </p:txBody>
      </p:sp>
    </p:spTree>
    <p:extLst>
      <p:ext uri="{BB962C8B-B14F-4D97-AF65-F5344CB8AC3E}">
        <p14:creationId xmlns:p14="http://schemas.microsoft.com/office/powerpoint/2010/main" val="2917205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25937" y="602187"/>
            <a:ext cx="9604375" cy="4211637"/>
          </a:xfrm>
        </p:spPr>
        <p:txBody>
          <a:bodyPr>
            <a:normAutofit/>
          </a:bodyPr>
          <a:lstStyle/>
          <a:p>
            <a:r>
              <a:rPr lang="en-US" dirty="0"/>
              <a:t> </a:t>
            </a:r>
            <a:r>
              <a:rPr lang="en-US" sz="2400" dirty="0">
                <a:latin typeface="Times New Roman" panose="02020603050405020304" pitchFamily="18" charset="0"/>
                <a:cs typeface="Times New Roman" panose="02020603050405020304" pitchFamily="18" charset="0"/>
              </a:rPr>
              <a:t>Plenty of tools like Nexus and </a:t>
            </a:r>
            <a:r>
              <a:rPr lang="en-US" sz="2400" dirty="0" err="1">
                <a:latin typeface="Times New Roman" panose="02020603050405020304" pitchFamily="18" charset="0"/>
                <a:cs typeface="Times New Roman" panose="02020603050405020304" pitchFamily="18" charset="0"/>
              </a:rPr>
              <a:t>Artifactory</a:t>
            </a:r>
            <a:r>
              <a:rPr lang="en-US" sz="2400" dirty="0">
                <a:latin typeface="Times New Roman" panose="02020603050405020304" pitchFamily="18" charset="0"/>
                <a:cs typeface="Times New Roman" panose="02020603050405020304" pitchFamily="18" charset="0"/>
              </a:rPr>
              <a:t>  helps to   manage artifacts.</a:t>
            </a:r>
          </a:p>
          <a:p>
            <a:r>
              <a:rPr lang="en-US" sz="2400" dirty="0">
                <a:latin typeface="Times New Roman" panose="02020603050405020304" pitchFamily="18" charset="0"/>
                <a:cs typeface="Times New Roman" panose="02020603050405020304" pitchFamily="18" charset="0"/>
              </a:rPr>
              <a:t>The second stage is  automated acceptance tests.</a:t>
            </a:r>
          </a:p>
          <a:p>
            <a:r>
              <a:rPr lang="en-US" sz="2400" dirty="0">
                <a:latin typeface="Times New Roman" panose="02020603050405020304" pitchFamily="18" charset="0"/>
                <a:cs typeface="Times New Roman" panose="02020603050405020304" pitchFamily="18" charset="0"/>
              </a:rPr>
              <a:t>CI server performs automatic tests suites which can be executed in parallel to increase their speed and give you feedback faster.</a:t>
            </a:r>
          </a:p>
          <a:p>
            <a:r>
              <a:rPr lang="en-US" sz="2400" dirty="0">
                <a:latin typeface="Times New Roman" panose="02020603050405020304" pitchFamily="18" charset="0"/>
                <a:cs typeface="Times New Roman" panose="02020603050405020304" pitchFamily="18" charset="0"/>
              </a:rPr>
              <a:t>At this point, the pipeline branches to enable independent deployment of your build to various environments—in this case, UAT (user acceptance testing), capacity testing, and production</a:t>
            </a:r>
          </a:p>
          <a:p>
            <a:endParaRPr lang="en-US" dirty="0"/>
          </a:p>
        </p:txBody>
      </p:sp>
    </p:spTree>
    <p:extLst>
      <p:ext uri="{BB962C8B-B14F-4D97-AF65-F5344CB8AC3E}">
        <p14:creationId xmlns:p14="http://schemas.microsoft.com/office/powerpoint/2010/main" val="4097710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614848"/>
          </a:xfrm>
        </p:spPr>
        <p:txBody>
          <a:bodyPr>
            <a:normAutofit/>
          </a:bodyPr>
          <a:lstStyle/>
          <a:p>
            <a:r>
              <a:rPr lang="en-US" sz="2800" dirty="0"/>
              <a:t>Deployment pipeline </a:t>
            </a:r>
            <a:r>
              <a:rPr lang="en-US" sz="2800" dirty="0" err="1"/>
              <a:t>practises</a:t>
            </a:r>
            <a:endParaRPr lang="en-US" sz="2800" dirty="0"/>
          </a:p>
        </p:txBody>
      </p:sp>
      <p:sp>
        <p:nvSpPr>
          <p:cNvPr id="3" name="Content Placeholder 2"/>
          <p:cNvSpPr>
            <a:spLocks noGrp="1"/>
          </p:cNvSpPr>
          <p:nvPr>
            <p:ph idx="1"/>
          </p:nvPr>
        </p:nvSpPr>
        <p:spPr>
          <a:xfrm>
            <a:off x="1451579" y="1337481"/>
            <a:ext cx="9603275" cy="4128865"/>
          </a:xfrm>
        </p:spPr>
        <p:txBody>
          <a:bodyPr>
            <a:noAutofit/>
          </a:bodyPr>
          <a:lstStyle/>
          <a:p>
            <a:pPr marL="0" indent="0">
              <a:buNone/>
            </a:pPr>
            <a:r>
              <a:rPr lang="en-US" sz="2800" b="1" i="1" dirty="0">
                <a:latin typeface="Times New Roman" pitchFamily="18" charset="0"/>
                <a:cs typeface="Times New Roman" pitchFamily="18" charset="0"/>
              </a:rPr>
              <a:t>Only Build Your Binaries Once</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Collections of executable code are  binaries.</a:t>
            </a:r>
          </a:p>
          <a:p>
            <a:r>
              <a:rPr lang="en-US" sz="2800" dirty="0">
                <a:latin typeface="Times New Roman" pitchFamily="18" charset="0"/>
                <a:cs typeface="Times New Roman" pitchFamily="18" charset="0"/>
              </a:rPr>
              <a:t>Collections of source files. Jars, .NET assemblies, and .so files are all examples of binaries.</a:t>
            </a:r>
          </a:p>
          <a:p>
            <a:r>
              <a:rPr lang="en-US" sz="2800" dirty="0">
                <a:latin typeface="Times New Roman" pitchFamily="18" charset="0"/>
                <a:cs typeface="Times New Roman" pitchFamily="18" charset="0"/>
              </a:rPr>
              <a:t>Build the binaries once, during the commit stage of the build. These binaries should be stored on a </a:t>
            </a:r>
            <a:r>
              <a:rPr lang="en-US" sz="2800" dirty="0" err="1">
                <a:latin typeface="Times New Roman" pitchFamily="18" charset="0"/>
                <a:cs typeface="Times New Roman" pitchFamily="18" charset="0"/>
              </a:rPr>
              <a:t>filesystem</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1371951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102773" y="365999"/>
            <a:ext cx="9604375" cy="5213350"/>
          </a:xfrm>
        </p:spPr>
        <p:txBody>
          <a:bodyPr>
            <a:noAutofit/>
          </a:bodyPr>
          <a:lstStyle/>
          <a:p>
            <a:r>
              <a:rPr lang="en-US" sz="2800" b="1" i="1" dirty="0">
                <a:latin typeface="Times New Roman" pitchFamily="18" charset="0"/>
                <a:cs typeface="Times New Roman" pitchFamily="18" charset="0"/>
              </a:rPr>
              <a:t>Smoke-Test Your Deployments</a:t>
            </a:r>
          </a:p>
          <a:p>
            <a:r>
              <a:rPr lang="en-US" sz="2800" dirty="0">
                <a:latin typeface="Times New Roman" pitchFamily="18" charset="0"/>
                <a:cs typeface="Times New Roman" pitchFamily="18" charset="0"/>
              </a:rPr>
              <a:t>There is an  automated script that does a smoke test to make sure that it is up and running. </a:t>
            </a:r>
          </a:p>
          <a:p>
            <a:r>
              <a:rPr lang="en-US" sz="2800" dirty="0">
                <a:latin typeface="Times New Roman" pitchFamily="18" charset="0"/>
                <a:cs typeface="Times New Roman" pitchFamily="18" charset="0"/>
              </a:rPr>
              <a:t>This could be as simple as launching the application and checking to make sure that the main screen comes up with the expected content. </a:t>
            </a:r>
          </a:p>
          <a:p>
            <a:r>
              <a:rPr lang="en-US" sz="2800" dirty="0">
                <a:latin typeface="Times New Roman" pitchFamily="18" charset="0"/>
                <a:cs typeface="Times New Roman" pitchFamily="18" charset="0"/>
              </a:rPr>
              <a:t>The smoke test should also check that any services that the application depends on are up and running—such as a database,  or external services.</a:t>
            </a:r>
          </a:p>
        </p:txBody>
      </p:sp>
    </p:spTree>
    <p:extLst>
      <p:ext uri="{BB962C8B-B14F-4D97-AF65-F5344CB8AC3E}">
        <p14:creationId xmlns:p14="http://schemas.microsoft.com/office/powerpoint/2010/main" val="67366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090569"/>
            <a:ext cx="11920756" cy="5737182"/>
          </a:xfrm>
        </p:spPr>
        <p:txBody>
          <a:bodyPr>
            <a:normAutofit/>
          </a:bodyPr>
          <a:lstStyle/>
          <a:p>
            <a:pPr marL="3657600" lvl="8" indent="0">
              <a:buNone/>
            </a:pPr>
            <a:endParaRPr lang="en-US" b="1" i="1" dirty="0">
              <a:latin typeface="Times New Roman" pitchFamily="18" charset="0"/>
              <a:cs typeface="Times New Roman" pitchFamily="18" charset="0"/>
            </a:endParaRPr>
          </a:p>
          <a:p>
            <a:endParaRPr lang="en-US" sz="2400" b="1" i="1" dirty="0">
              <a:latin typeface="Times New Roman" pitchFamily="18" charset="0"/>
              <a:cs typeface="Times New Roman" pitchFamily="18" charset="0"/>
            </a:endParaRPr>
          </a:p>
          <a:p>
            <a:endParaRPr lang="en-US" sz="2400" b="1" i="1" dirty="0">
              <a:latin typeface="Times New Roman" pitchFamily="18" charset="0"/>
              <a:cs typeface="Times New Roman" pitchFamily="18" charset="0"/>
            </a:endParaRPr>
          </a:p>
          <a:p>
            <a:r>
              <a:rPr lang="en-US" sz="2600" b="1" i="1" dirty="0">
                <a:latin typeface="Times New Roman" pitchFamily="18" charset="0"/>
                <a:cs typeface="Times New Roman" pitchFamily="18" charset="0"/>
              </a:rPr>
              <a:t>Each Change Should Propagate through the Pipeline Instantly</a:t>
            </a:r>
          </a:p>
          <a:p>
            <a:pPr marL="0" indent="0">
              <a:buNone/>
            </a:pPr>
            <a:endParaRPr lang="en-US" sz="2600" b="1" i="1" dirty="0">
              <a:latin typeface="Times New Roman" pitchFamily="18" charset="0"/>
              <a:cs typeface="Times New Roman" pitchFamily="18" charset="0"/>
            </a:endParaRPr>
          </a:p>
          <a:p>
            <a:r>
              <a:rPr lang="en-US" sz="2400" dirty="0">
                <a:latin typeface="Times New Roman" pitchFamily="18" charset="0"/>
                <a:cs typeface="Times New Roman" pitchFamily="18" charset="0"/>
              </a:rPr>
              <a:t>Somebody checks a change into version control, creating version 1in turn, triggers the first stage in the pipeline (build and unit tests).</a:t>
            </a:r>
          </a:p>
          <a:p>
            <a:r>
              <a:rPr lang="en-US" sz="2400" dirty="0">
                <a:latin typeface="Times New Roman" pitchFamily="18" charset="0"/>
                <a:cs typeface="Times New Roman" pitchFamily="18" charset="0"/>
              </a:rPr>
              <a:t>This passes, and triggers the second stage: the automated acceptance tests. Somebody then checks in another change, creating version 2. This triggers the build and unit tests again.</a:t>
            </a:r>
          </a:p>
          <a:p>
            <a:r>
              <a:rPr lang="en-US" sz="2400" dirty="0">
                <a:latin typeface="Times New Roman" pitchFamily="18" charset="0"/>
                <a:cs typeface="Times New Roman" pitchFamily="18" charset="0"/>
              </a:rPr>
              <a:t>Even though these have passed, they cannot trigger a new instance of the automated acceptance tests, since they are already running</a:t>
            </a:r>
          </a:p>
        </p:txBody>
      </p:sp>
    </p:spTree>
    <p:extLst>
      <p:ext uri="{BB962C8B-B14F-4D97-AF65-F5344CB8AC3E}">
        <p14:creationId xmlns:p14="http://schemas.microsoft.com/office/powerpoint/2010/main" val="599594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60161" y="788085"/>
            <a:ext cx="9604375" cy="4791075"/>
          </a:xfrm>
        </p:spPr>
        <p:txBody>
          <a:bodyPr>
            <a:noAutofit/>
          </a:bodyPr>
          <a:lstStyle/>
          <a:p>
            <a:r>
              <a:rPr lang="en-US" sz="2400" dirty="0">
                <a:latin typeface="Times New Roman" pitchFamily="18" charset="0"/>
                <a:cs typeface="Times New Roman" pitchFamily="18" charset="0"/>
              </a:rPr>
              <a:t>In the meantime, two more check-ins have occurred in quick succession.</a:t>
            </a:r>
          </a:p>
          <a:p>
            <a:r>
              <a:rPr lang="en-US" sz="2400" dirty="0">
                <a:latin typeface="Times New Roman" pitchFamily="18" charset="0"/>
                <a:cs typeface="Times New Roman" pitchFamily="18" charset="0"/>
              </a:rPr>
              <a:t>However, the CI system should not attempt to build both of them—</a:t>
            </a:r>
          </a:p>
          <a:p>
            <a:r>
              <a:rPr lang="en-US" sz="2400" dirty="0">
                <a:latin typeface="Times New Roman" pitchFamily="18" charset="0"/>
                <a:cs typeface="Times New Roman" pitchFamily="18" charset="0"/>
              </a:rPr>
              <a:t>if it followed that rule, and developers continued to check in at the same rate, the builds would get further and further behind what the developers are currently doing.</a:t>
            </a:r>
          </a:p>
          <a:p>
            <a:r>
              <a:rPr lang="en-US" sz="2400" dirty="0">
                <a:latin typeface="Times New Roman" pitchFamily="18" charset="0"/>
                <a:cs typeface="Times New Roman" pitchFamily="18" charset="0"/>
              </a:rPr>
              <a:t>Instead, once an instance of the build and unit tests has finished, the CI system checks to see if new changes are available, and if so, builds off the most recent set available—in this case, version 4.</a:t>
            </a:r>
          </a:p>
        </p:txBody>
      </p:sp>
    </p:spTree>
    <p:extLst>
      <p:ext uri="{BB962C8B-B14F-4D97-AF65-F5344CB8AC3E}">
        <p14:creationId xmlns:p14="http://schemas.microsoft.com/office/powerpoint/2010/main" val="1004575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42715" y="779026"/>
            <a:ext cx="9604375" cy="3705225"/>
          </a:xfrm>
        </p:spPr>
        <p:txBody>
          <a:bodyPr>
            <a:noAutofit/>
          </a:bodyPr>
          <a:lstStyle/>
          <a:p>
            <a:r>
              <a:rPr lang="en-US" sz="2800" dirty="0">
                <a:latin typeface="Times New Roman" pitchFamily="18" charset="0"/>
                <a:cs typeface="Times New Roman" pitchFamily="18" charset="0"/>
              </a:rPr>
              <a:t>Suppose this breaks the build and unit tests stage. The build system doesn’t know which commit, 3 or 4, caused the stage to break, but it is usually simple for the developers to work this out for themselves.</a:t>
            </a:r>
          </a:p>
          <a:p>
            <a:r>
              <a:rPr lang="en-US" sz="2800" dirty="0">
                <a:latin typeface="Times New Roman" pitchFamily="18" charset="0"/>
                <a:cs typeface="Times New Roman" pitchFamily="18" charset="0"/>
              </a:rPr>
              <a:t>Some CI systems will let you run specified versions out of order, in which case the developers could trigger the first stage off revision 3 to see if it passes or fails, and thus whether it was commit 3 or 4 that broke the build.</a:t>
            </a:r>
          </a:p>
        </p:txBody>
      </p:sp>
    </p:spTree>
    <p:extLst>
      <p:ext uri="{BB962C8B-B14F-4D97-AF65-F5344CB8AC3E}">
        <p14:creationId xmlns:p14="http://schemas.microsoft.com/office/powerpoint/2010/main" val="2547409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9051" y="0"/>
            <a:ext cx="6933062" cy="6714699"/>
          </a:xfrm>
        </p:spPr>
      </p:pic>
    </p:spTree>
    <p:extLst>
      <p:ext uri="{BB962C8B-B14F-4D97-AF65-F5344CB8AC3E}">
        <p14:creationId xmlns:p14="http://schemas.microsoft.com/office/powerpoint/2010/main" val="3327732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pipeline </a:t>
            </a:r>
            <a:r>
              <a:rPr lang="en-US" dirty="0" err="1"/>
              <a:t>practises</a:t>
            </a:r>
            <a:endParaRPr lang="en-US" dirty="0"/>
          </a:p>
        </p:txBody>
      </p:sp>
      <p:sp>
        <p:nvSpPr>
          <p:cNvPr id="3" name="Content Placeholder 2"/>
          <p:cNvSpPr>
            <a:spLocks noGrp="1"/>
          </p:cNvSpPr>
          <p:nvPr>
            <p:ph idx="1"/>
          </p:nvPr>
        </p:nvSpPr>
        <p:spPr>
          <a:xfrm>
            <a:off x="1451579" y="1269242"/>
            <a:ext cx="9603275" cy="4197104"/>
          </a:xfrm>
        </p:spPr>
        <p:txBody>
          <a:bodyPr>
            <a:normAutofit/>
          </a:bodyPr>
          <a:lstStyle/>
          <a:p>
            <a:r>
              <a:rPr lang="en-US" sz="2800" b="1" i="1" dirty="0">
                <a:latin typeface="Times New Roman" pitchFamily="18" charset="0"/>
                <a:cs typeface="Times New Roman" pitchFamily="18" charset="0"/>
              </a:rPr>
              <a:t>If Any Part of the Pipeline Fails, Stop the Line</a:t>
            </a:r>
          </a:p>
          <a:p>
            <a:r>
              <a:rPr lang="en-US" sz="2800" dirty="0">
                <a:latin typeface="Times New Roman" pitchFamily="18" charset="0"/>
                <a:cs typeface="Times New Roman" pitchFamily="18" charset="0"/>
              </a:rPr>
              <a:t>If a deployment to an environment fails, the whole team owns that failure. </a:t>
            </a:r>
          </a:p>
          <a:p>
            <a:r>
              <a:rPr lang="en-US" sz="2800" dirty="0">
                <a:latin typeface="Times New Roman" pitchFamily="18" charset="0"/>
                <a:cs typeface="Times New Roman" pitchFamily="18" charset="0"/>
              </a:rPr>
              <a:t>They should stop and fix it before doing anything else.</a:t>
            </a:r>
          </a:p>
        </p:txBody>
      </p:sp>
    </p:spTree>
    <p:extLst>
      <p:ext uri="{BB962C8B-B14F-4D97-AF65-F5344CB8AC3E}">
        <p14:creationId xmlns:p14="http://schemas.microsoft.com/office/powerpoint/2010/main" val="2783234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67081"/>
          </a:xfrm>
        </p:spPr>
        <p:txBody>
          <a:bodyPr/>
          <a:lstStyle/>
          <a:p>
            <a:r>
              <a:rPr lang="en-US" dirty="0"/>
              <a:t>Build and deployment scripting</a:t>
            </a:r>
          </a:p>
        </p:txBody>
      </p:sp>
      <p:sp>
        <p:nvSpPr>
          <p:cNvPr id="3" name="Content Placeholder 2"/>
          <p:cNvSpPr>
            <a:spLocks noGrp="1"/>
          </p:cNvSpPr>
          <p:nvPr>
            <p:ph idx="1"/>
          </p:nvPr>
        </p:nvSpPr>
        <p:spPr>
          <a:xfrm>
            <a:off x="1451579" y="1371600"/>
            <a:ext cx="9603275" cy="4094745"/>
          </a:xfrm>
        </p:spPr>
        <p:txBody>
          <a:bodyPr>
            <a:normAutofit fontScale="85000" lnSpcReduction="1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An Overview of Build Tools</a:t>
            </a:r>
          </a:p>
          <a:p>
            <a:pPr>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Build</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tools</a:t>
            </a:r>
            <a:r>
              <a:rPr lang="en-US" sz="2800" dirty="0">
                <a:latin typeface="Times New Roman" panose="02020603050405020304" pitchFamily="18" charset="0"/>
                <a:cs typeface="Times New Roman" panose="02020603050405020304" pitchFamily="18" charset="0"/>
              </a:rPr>
              <a:t> are programs that automate the creation of executable applications from source code(</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apk</a:t>
            </a:r>
            <a:r>
              <a:rPr lang="en-US" sz="2800" dirty="0">
                <a:latin typeface="Times New Roman" panose="02020603050405020304" pitchFamily="18" charset="0"/>
                <a:cs typeface="Times New Roman" panose="02020603050405020304" pitchFamily="18" charset="0"/>
              </a:rPr>
              <a:t> for android app). </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Building incorporates compiling, linking and packaging the code into a usable or executable form.</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Build automation utility (like Make, Rake, MS build, Ant, </a:t>
            </a:r>
            <a:r>
              <a:rPr lang="en-US" sz="2800" dirty="0" err="1">
                <a:latin typeface="Times New Roman" panose="02020603050405020304" pitchFamily="18" charset="0"/>
                <a:cs typeface="Times New Roman" panose="02020603050405020304" pitchFamily="18" charset="0"/>
              </a:rPr>
              <a:t>Gradle</a:t>
            </a:r>
            <a:r>
              <a:rPr lang="en-US" sz="2800" dirty="0">
                <a:latin typeface="Times New Roman" panose="02020603050405020304" pitchFamily="18" charset="0"/>
                <a:cs typeface="Times New Roman" panose="02020603050405020304" pitchFamily="18" charset="0"/>
              </a:rPr>
              <a:t> etc.)</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Whose primary purpose is to generate build artifacts through activities like compiling and linking source code</a:t>
            </a:r>
          </a:p>
        </p:txBody>
      </p:sp>
    </p:spTree>
    <p:extLst>
      <p:ext uri="{BB962C8B-B14F-4D97-AF65-F5344CB8AC3E}">
        <p14:creationId xmlns:p14="http://schemas.microsoft.com/office/powerpoint/2010/main" val="4025637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17548" y="145351"/>
            <a:ext cx="9604375" cy="5651500"/>
          </a:xfrm>
        </p:spPr>
        <p:txBody>
          <a:bodyPr>
            <a:normAutofit/>
          </a:bodyPr>
          <a:lstStyle/>
          <a:p>
            <a:r>
              <a:rPr lang="en-US" sz="2400" dirty="0">
                <a:latin typeface="Times New Roman" panose="02020603050405020304" pitchFamily="18" charset="0"/>
                <a:cs typeface="Times New Roman" panose="02020603050405020304" pitchFamily="18" charset="0"/>
              </a:rPr>
              <a:t>Android SDK Build-Tools is a component of the Android SDK required for building Android apps. It's installed in the &lt;</a:t>
            </a:r>
            <a:r>
              <a:rPr lang="en-US" sz="2400" dirty="0" err="1">
                <a:latin typeface="Times New Roman" panose="02020603050405020304" pitchFamily="18" charset="0"/>
                <a:cs typeface="Times New Roman" panose="02020603050405020304" pitchFamily="18" charset="0"/>
              </a:rPr>
              <a:t>sdk</a:t>
            </a:r>
            <a:r>
              <a:rPr lang="en-US" sz="2400" dirty="0">
                <a:latin typeface="Times New Roman" panose="02020603050405020304" pitchFamily="18" charset="0"/>
                <a:cs typeface="Times New Roman" panose="02020603050405020304" pitchFamily="18" charset="0"/>
              </a:rPr>
              <a:t>&gt;/build-tools/ directory.</a:t>
            </a:r>
          </a:p>
          <a:p>
            <a:r>
              <a:rPr lang="en-US" sz="2400" dirty="0">
                <a:latin typeface="Times New Roman" panose="02020603050405020304" pitchFamily="18" charset="0"/>
                <a:cs typeface="Times New Roman" panose="02020603050405020304" pitchFamily="18" charset="0"/>
              </a:rPr>
              <a:t>We always keep the Build Tools component updated by downloading the latest version using the Android SDK Manager. </a:t>
            </a:r>
          </a:p>
          <a:p>
            <a:r>
              <a:rPr lang="en-US" sz="2400" dirty="0">
                <a:latin typeface="Times New Roman" panose="02020603050405020304" pitchFamily="18" charset="0"/>
                <a:cs typeface="Times New Roman" panose="02020603050405020304" pitchFamily="18" charset="0"/>
              </a:rPr>
              <a:t>By default, the Android SDK uses the most recent downloaded version of the Build Tools.</a:t>
            </a:r>
          </a:p>
          <a:p>
            <a:r>
              <a:rPr lang="en-US" sz="2400" dirty="0">
                <a:latin typeface="Times New Roman" panose="02020603050405020304" pitchFamily="18" charset="0"/>
                <a:cs typeface="Times New Roman" panose="02020603050405020304" pitchFamily="18" charset="0"/>
              </a:rPr>
              <a:t> If your projects depend on older versions of the Build Tools, the SDK Manager allows you to download and maintain separate versions of the tools for use with those projects</a:t>
            </a:r>
          </a:p>
        </p:txBody>
      </p:sp>
    </p:spTree>
    <p:extLst>
      <p:ext uri="{BB962C8B-B14F-4D97-AF65-F5344CB8AC3E}">
        <p14:creationId xmlns:p14="http://schemas.microsoft.com/office/powerpoint/2010/main" val="4223407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650208"/>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An Overview of Build Tools</a:t>
            </a:r>
            <a:br>
              <a:rPr lang="en-US" dirty="0">
                <a:solidFill>
                  <a:srgbClr val="FF0000"/>
                </a:solidFill>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1451579" y="2015732"/>
            <a:ext cx="9603275" cy="3450613"/>
          </a:xfrm>
        </p:spPr>
        <p:txBody>
          <a:bodyPr>
            <a:normAutofit/>
          </a:bodyPr>
          <a:lstStyle/>
          <a:p>
            <a:r>
              <a:rPr lang="en-US" sz="2400" dirty="0">
                <a:latin typeface="Times New Roman" panose="02020603050405020304" pitchFamily="18" charset="0"/>
                <a:cs typeface="Times New Roman" panose="02020603050405020304" pitchFamily="18" charset="0"/>
              </a:rPr>
              <a:t>All build tools have a common core: Build tools allow to model a dependency network.</a:t>
            </a:r>
          </a:p>
          <a:p>
            <a:r>
              <a:rPr lang="en-US" sz="2400" dirty="0">
                <a:latin typeface="Times New Roman" panose="02020603050405020304" pitchFamily="18" charset="0"/>
                <a:cs typeface="Times New Roman" panose="02020603050405020304" pitchFamily="18" charset="0"/>
              </a:rPr>
              <a:t> When you run your tool, it will calculate how to reach the goal you specify by executing tasks in the correct order, running each task that your goal depends on exactly on.</a:t>
            </a:r>
          </a:p>
          <a:p>
            <a:r>
              <a:rPr lang="en-US" sz="2400" dirty="0">
                <a:latin typeface="Times New Roman" panose="02020603050405020304" pitchFamily="18" charset="0"/>
                <a:cs typeface="Times New Roman" panose="02020603050405020304" pitchFamily="18" charset="0"/>
              </a:rPr>
              <a:t> Build tool will perform every task in the dependency network</a:t>
            </a:r>
          </a:p>
        </p:txBody>
      </p:sp>
    </p:spTree>
    <p:extLst>
      <p:ext uri="{BB962C8B-B14F-4D97-AF65-F5344CB8AC3E}">
        <p14:creationId xmlns:p14="http://schemas.microsoft.com/office/powerpoint/2010/main" val="1520035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80" y="804520"/>
            <a:ext cx="8662238" cy="5402316"/>
          </a:xfrm>
        </p:spPr>
      </p:pic>
    </p:spTree>
    <p:extLst>
      <p:ext uri="{BB962C8B-B14F-4D97-AF65-F5344CB8AC3E}">
        <p14:creationId xmlns:p14="http://schemas.microsoft.com/office/powerpoint/2010/main" val="253270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a:bodyPr>
          <a:lstStyle/>
          <a:p>
            <a:r>
              <a:rPr lang="en-US" sz="2400" dirty="0">
                <a:latin typeface="Times New Roman" panose="02020603050405020304" pitchFamily="18" charset="0"/>
                <a:cs typeface="Times New Roman" panose="02020603050405020304" pitchFamily="18" charset="0"/>
              </a:rPr>
              <a:t> Build tools will walk the entire network, invoking (but not necessarily executing) each task.</a:t>
            </a:r>
          </a:p>
          <a:p>
            <a:r>
              <a:rPr lang="en-US" sz="2400" dirty="0">
                <a:latin typeface="Times New Roman" panose="02020603050405020304" pitchFamily="18" charset="0"/>
                <a:cs typeface="Times New Roman" panose="02020603050405020304" pitchFamily="18" charset="0"/>
              </a:rPr>
              <a:t>It can start with either </a:t>
            </a:r>
            <a:r>
              <a:rPr lang="en-US" sz="2400" dirty="0" err="1">
                <a:latin typeface="Times New Roman" panose="02020603050405020304" pitchFamily="18" charset="0"/>
                <a:cs typeface="Times New Roman" panose="02020603050405020304" pitchFamily="18" charset="0"/>
              </a:rPr>
              <a:t>init</a:t>
            </a:r>
            <a:r>
              <a:rPr lang="en-US" sz="2400" dirty="0">
                <a:latin typeface="Times New Roman" panose="02020603050405020304" pitchFamily="18" charset="0"/>
                <a:cs typeface="Times New Roman" panose="02020603050405020304" pitchFamily="18" charset="0"/>
              </a:rPr>
              <a:t> or setting up test data, since these tasks are independent.</a:t>
            </a:r>
          </a:p>
          <a:p>
            <a:r>
              <a:rPr lang="en-US" sz="2400" dirty="0">
                <a:latin typeface="Times New Roman" panose="02020603050405020304" pitchFamily="18" charset="0"/>
                <a:cs typeface="Times New Roman" panose="02020603050405020304" pitchFamily="18" charset="0"/>
              </a:rPr>
              <a:t> Once it has done </a:t>
            </a:r>
            <a:r>
              <a:rPr lang="en-US" sz="2400" dirty="0" err="1">
                <a:latin typeface="Times New Roman" panose="02020603050405020304" pitchFamily="18" charset="0"/>
                <a:cs typeface="Times New Roman" panose="02020603050405020304" pitchFamily="18" charset="0"/>
              </a:rPr>
              <a:t>init</a:t>
            </a:r>
            <a:r>
              <a:rPr lang="en-US" sz="2400" dirty="0">
                <a:latin typeface="Times New Roman" panose="02020603050405020304" pitchFamily="18" charset="0"/>
                <a:cs typeface="Times New Roman" panose="02020603050405020304" pitchFamily="18" charset="0"/>
              </a:rPr>
              <a:t>, it can then compile the source or the tests—but it must do both, and set up the test data, before the tests can be run.</a:t>
            </a:r>
          </a:p>
          <a:p>
            <a:r>
              <a:rPr lang="en-US" sz="2400" dirty="0">
                <a:latin typeface="Times New Roman" panose="02020603050405020304" pitchFamily="18" charset="0"/>
                <a:cs typeface="Times New Roman" panose="02020603050405020304" pitchFamily="18" charset="0"/>
              </a:rPr>
              <a:t>A build tool must ensure that  each prerequisite must be executed exactly once.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3230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Test data</a:t>
            </a:r>
            <a:r>
              <a:rPr lang="en-US" sz="2400" dirty="0">
                <a:latin typeface="Times New Roman" panose="02020603050405020304" pitchFamily="18" charset="0"/>
                <a:cs typeface="Times New Roman" panose="02020603050405020304" pitchFamily="18" charset="0"/>
              </a:rPr>
              <a:t> is data which has been specifically identified for use in tests.</a:t>
            </a:r>
          </a:p>
          <a:p>
            <a:r>
              <a:rPr lang="en-US" sz="2400" dirty="0">
                <a:latin typeface="Times New Roman" panose="02020603050405020304" pitchFamily="18" charset="0"/>
                <a:cs typeface="Times New Roman" panose="02020603050405020304" pitchFamily="18" charset="0"/>
              </a:rPr>
              <a:t>Some data may be used to verify that a given set of input to a given function produces some expected result.</a:t>
            </a:r>
          </a:p>
          <a:p>
            <a:r>
              <a:rPr lang="en-US" sz="2400" dirty="0">
                <a:latin typeface="Times New Roman" panose="02020603050405020304" pitchFamily="18" charset="0"/>
                <a:cs typeface="Times New Roman" panose="02020603050405020304" pitchFamily="18" charset="0"/>
              </a:rPr>
              <a:t>Other data may be used in order to challenge the ability of the program to respond to unusual, extreme, exceptional, or unexpected input</a:t>
            </a:r>
          </a:p>
        </p:txBody>
      </p:sp>
    </p:spTree>
    <p:extLst>
      <p:ext uri="{BB962C8B-B14F-4D97-AF65-F5344CB8AC3E}">
        <p14:creationId xmlns:p14="http://schemas.microsoft.com/office/powerpoint/2010/main" val="3503587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Build tools are categorized into two:</a:t>
            </a:r>
          </a:p>
          <a:p>
            <a:r>
              <a:rPr lang="en-US" sz="2400" dirty="0">
                <a:solidFill>
                  <a:srgbClr val="FF0000"/>
                </a:solidFill>
                <a:latin typeface="Times New Roman" panose="02020603050405020304" pitchFamily="18" charset="0"/>
                <a:cs typeface="Times New Roman" panose="02020603050405020304" pitchFamily="18" charset="0"/>
              </a:rPr>
              <a:t>Task-oriented build tools </a:t>
            </a:r>
            <a:r>
              <a:rPr lang="en-US" sz="2400" dirty="0">
                <a:latin typeface="Times New Roman" panose="02020603050405020304" pitchFamily="18" charset="0"/>
                <a:cs typeface="Times New Roman" panose="02020603050405020304" pitchFamily="18" charset="0"/>
              </a:rPr>
              <a:t>(for example, </a:t>
            </a:r>
            <a:r>
              <a:rPr lang="en-US" sz="2400" dirty="0">
                <a:solidFill>
                  <a:srgbClr val="FF0000"/>
                </a:solidFill>
                <a:latin typeface="Times New Roman" panose="02020603050405020304" pitchFamily="18" charset="0"/>
                <a:cs typeface="Times New Roman" panose="02020603050405020304" pitchFamily="18" charset="0"/>
              </a:rPr>
              <a:t>Ant, </a:t>
            </a:r>
            <a:r>
              <a:rPr lang="en-US" sz="2400" dirty="0" err="1">
                <a:solidFill>
                  <a:srgbClr val="FF0000"/>
                </a:solidFill>
                <a:latin typeface="Times New Roman" panose="02020603050405020304" pitchFamily="18" charset="0"/>
                <a:cs typeface="Times New Roman" panose="02020603050405020304" pitchFamily="18" charset="0"/>
              </a:rPr>
              <a:t>NAnt</a:t>
            </a:r>
            <a:r>
              <a:rPr lang="en-US" sz="2400" dirty="0">
                <a:solidFill>
                  <a:srgbClr val="FF0000"/>
                </a:solidFill>
                <a:latin typeface="Times New Roman" panose="02020603050405020304" pitchFamily="18" charset="0"/>
                <a:cs typeface="Times New Roman" panose="02020603050405020304" pitchFamily="18" charset="0"/>
              </a:rPr>
              <a:t>, and </a:t>
            </a:r>
            <a:r>
              <a:rPr lang="en-US" sz="2400" dirty="0" err="1">
                <a:solidFill>
                  <a:srgbClr val="FF0000"/>
                </a:solidFill>
                <a:latin typeface="Times New Roman" panose="02020603050405020304" pitchFamily="18" charset="0"/>
                <a:cs typeface="Times New Roman" panose="02020603050405020304" pitchFamily="18" charset="0"/>
              </a:rPr>
              <a:t>MsBuild</a:t>
            </a:r>
            <a:r>
              <a:rPr lang="en-US" sz="2400" dirty="0">
                <a:latin typeface="Times New Roman" panose="02020603050405020304" pitchFamily="18" charset="0"/>
                <a:cs typeface="Times New Roman" panose="02020603050405020304" pitchFamily="18" charset="0"/>
              </a:rPr>
              <a:t>) describe the dependency network in terms of a set of tasks. </a:t>
            </a:r>
          </a:p>
          <a:p>
            <a:r>
              <a:rPr lang="en-US" sz="2400" dirty="0">
                <a:latin typeface="Times New Roman" panose="02020603050405020304" pitchFamily="18" charset="0"/>
                <a:cs typeface="Times New Roman" panose="02020603050405020304" pitchFamily="18" charset="0"/>
              </a:rPr>
              <a:t>In a task-oriented tool, each task will know whether or not it has already been executed as part of the build. </a:t>
            </a:r>
          </a:p>
          <a:p>
            <a:r>
              <a:rPr lang="en-US" sz="2400" dirty="0">
                <a:latin typeface="Times New Roman" panose="02020603050405020304" pitchFamily="18" charset="0"/>
                <a:cs typeface="Times New Roman" panose="02020603050405020304" pitchFamily="18" charset="0"/>
              </a:rPr>
              <a:t>Thus, even though the </a:t>
            </a:r>
            <a:r>
              <a:rPr lang="en-US" sz="2400" dirty="0" err="1">
                <a:latin typeface="Times New Roman" panose="02020603050405020304" pitchFamily="18" charset="0"/>
                <a:cs typeface="Times New Roman" panose="02020603050405020304" pitchFamily="18" charset="0"/>
              </a:rPr>
              <a:t>Init</a:t>
            </a:r>
            <a:r>
              <a:rPr lang="en-US" sz="2400" dirty="0">
                <a:latin typeface="Times New Roman" panose="02020603050405020304" pitchFamily="18" charset="0"/>
                <a:cs typeface="Times New Roman" panose="02020603050405020304" pitchFamily="18" charset="0"/>
              </a:rPr>
              <a:t> task is invoked twice, it would only be executed once</a:t>
            </a:r>
          </a:p>
        </p:txBody>
      </p:sp>
    </p:spTree>
    <p:extLst>
      <p:ext uri="{BB962C8B-B14F-4D97-AF65-F5344CB8AC3E}">
        <p14:creationId xmlns:p14="http://schemas.microsoft.com/office/powerpoint/2010/main" val="2769111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latin typeface="Times New Roman" panose="02020603050405020304" pitchFamily="18" charset="0"/>
                <a:cs typeface="Times New Roman" panose="02020603050405020304" pitchFamily="18" charset="0"/>
              </a:rPr>
              <a:t>Task-oriented build tools, in contrast, keep no state between builds. </a:t>
            </a:r>
          </a:p>
          <a:p>
            <a:r>
              <a:rPr lang="en-US" sz="2800" dirty="0">
                <a:latin typeface="Times New Roman" panose="02020603050405020304" pitchFamily="18" charset="0"/>
                <a:cs typeface="Times New Roman" panose="02020603050405020304" pitchFamily="18" charset="0"/>
              </a:rPr>
              <a:t>This makes them less powerful and entirely unsuitable for compiling C++. </a:t>
            </a:r>
          </a:p>
          <a:p>
            <a:r>
              <a:rPr lang="en-US" sz="2800" dirty="0">
                <a:latin typeface="Times New Roman" panose="02020603050405020304" pitchFamily="18" charset="0"/>
                <a:cs typeface="Times New Roman" panose="02020603050405020304" pitchFamily="18" charset="0"/>
              </a:rPr>
              <a:t>However, they work ﬁne for languages such as C# since the compilers for these languages have built-in logic for performing incremental builds.</a:t>
            </a:r>
          </a:p>
        </p:txBody>
      </p:sp>
    </p:spTree>
    <p:extLst>
      <p:ext uri="{BB962C8B-B14F-4D97-AF65-F5344CB8AC3E}">
        <p14:creationId xmlns:p14="http://schemas.microsoft.com/office/powerpoint/2010/main" val="1320133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470099"/>
          </a:xfrm>
        </p:spPr>
        <p:txBody>
          <a:bodyPr>
            <a:normAutofit fontScale="90000"/>
          </a:bodyPr>
          <a:lstStyle/>
          <a:p>
            <a:endParaRPr lang="en-US" dirty="0"/>
          </a:p>
        </p:txBody>
      </p:sp>
      <p:sp>
        <p:nvSpPr>
          <p:cNvPr id="3" name="Content Placeholder 2"/>
          <p:cNvSpPr>
            <a:spLocks noGrp="1"/>
          </p:cNvSpPr>
          <p:nvPr>
            <p:ph idx="1"/>
          </p:nvPr>
        </p:nvSpPr>
        <p:spPr>
          <a:xfrm>
            <a:off x="1451579" y="2015732"/>
            <a:ext cx="9603275" cy="3983286"/>
          </a:xfrm>
        </p:spPr>
        <p:txBody>
          <a:bodyPr>
            <a:normAutofit/>
          </a:bodyPr>
          <a:lstStyle/>
          <a:p>
            <a:r>
              <a:rPr lang="en-US" sz="2400" dirty="0">
                <a:solidFill>
                  <a:srgbClr val="FF0000"/>
                </a:solidFill>
                <a:latin typeface="Times New Roman" panose="02020603050405020304" pitchFamily="18" charset="0"/>
                <a:cs typeface="Times New Roman" panose="02020603050405020304" pitchFamily="18" charset="0"/>
              </a:rPr>
              <a:t>A product-oriented tool</a:t>
            </a:r>
            <a:r>
              <a:rPr lang="en-US" sz="2400" dirty="0">
                <a:latin typeface="Times New Roman" panose="02020603050405020304" pitchFamily="18" charset="0"/>
                <a:cs typeface="Times New Roman" panose="02020603050405020304" pitchFamily="18" charset="0"/>
              </a:rPr>
              <a:t>, such as </a:t>
            </a:r>
            <a:r>
              <a:rPr lang="en-US" sz="2400" dirty="0">
                <a:solidFill>
                  <a:srgbClr val="FF0000"/>
                </a:solidFill>
                <a:latin typeface="Times New Roman" panose="02020603050405020304" pitchFamily="18" charset="0"/>
                <a:cs typeface="Times New Roman" panose="02020603050405020304" pitchFamily="18" charset="0"/>
              </a:rPr>
              <a:t>Make</a:t>
            </a:r>
            <a:r>
              <a:rPr lang="en-US" sz="2400" dirty="0">
                <a:latin typeface="Times New Roman" panose="02020603050405020304" pitchFamily="18" charset="0"/>
                <a:cs typeface="Times New Roman" panose="02020603050405020304" pitchFamily="18" charset="0"/>
              </a:rPr>
              <a:t>, describes things in terms of the products they generate, such as an executables.</a:t>
            </a:r>
          </a:p>
          <a:p>
            <a:r>
              <a:rPr lang="en-US" sz="2400" dirty="0">
                <a:latin typeface="Times New Roman" panose="02020603050405020304" pitchFamily="18" charset="0"/>
                <a:cs typeface="Times New Roman" panose="02020603050405020304" pitchFamily="18" charset="0"/>
              </a:rPr>
              <a:t> The Compile source and Compile tests goals in our example would each result in a single ﬁle that contains all the compiled code— source.so and tests.so</a:t>
            </a:r>
          </a:p>
          <a:p>
            <a:r>
              <a:rPr lang="en-US" sz="2400" dirty="0">
                <a:latin typeface="Times New Roman" panose="02020603050405020304" pitchFamily="18" charset="0"/>
                <a:cs typeface="Times New Roman" panose="02020603050405020304" pitchFamily="18" charset="0"/>
              </a:rPr>
              <a:t>A product-oriented build system would ensure it invoked Run tests after Compile source and Compile tests.</a:t>
            </a:r>
          </a:p>
          <a:p>
            <a:endParaRPr lang="en-US" dirty="0"/>
          </a:p>
        </p:txBody>
      </p:sp>
    </p:spTree>
    <p:extLst>
      <p:ext uri="{BB962C8B-B14F-4D97-AF65-F5344CB8AC3E}">
        <p14:creationId xmlns:p14="http://schemas.microsoft.com/office/powerpoint/2010/main" val="819857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Product-oriented build tools thus keep their state in the form of timestamps on the ﬁles generated by each of the tasks.</a:t>
            </a:r>
          </a:p>
          <a:p>
            <a:r>
              <a:rPr lang="en-US" sz="2800" dirty="0">
                <a:latin typeface="Times New Roman" panose="02020603050405020304" pitchFamily="18" charset="0"/>
                <a:cs typeface="Times New Roman" panose="02020603050405020304" pitchFamily="18" charset="0"/>
              </a:rPr>
              <a:t>In C or C++  </a:t>
            </a:r>
            <a:r>
              <a:rPr lang="en-US" sz="2800" dirty="0">
                <a:solidFill>
                  <a:srgbClr val="FF0000"/>
                </a:solidFill>
                <a:latin typeface="Times New Roman" panose="02020603050405020304" pitchFamily="18" charset="0"/>
                <a:cs typeface="Times New Roman" panose="02020603050405020304" pitchFamily="18" charset="0"/>
              </a:rPr>
              <a:t>Make</a:t>
            </a:r>
            <a:r>
              <a:rPr lang="en-US" sz="2800" dirty="0">
                <a:latin typeface="Times New Roman" panose="02020603050405020304" pitchFamily="18" charset="0"/>
                <a:cs typeface="Times New Roman" panose="02020603050405020304" pitchFamily="18" charset="0"/>
              </a:rPr>
              <a:t> build tool will ensure that we only compile those source code ﬁles that have changed since the last time the build was run.</a:t>
            </a:r>
          </a:p>
        </p:txBody>
      </p:sp>
    </p:spTree>
    <p:extLst>
      <p:ext uri="{BB962C8B-B14F-4D97-AF65-F5344CB8AC3E}">
        <p14:creationId xmlns:p14="http://schemas.microsoft.com/office/powerpoint/2010/main" val="4185649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feature, known as an incremental build, can save hours over a clean build on large projects. </a:t>
            </a:r>
          </a:p>
          <a:p>
            <a:r>
              <a:rPr lang="en-US" sz="2800" dirty="0">
                <a:latin typeface="Times New Roman" panose="02020603050405020304" pitchFamily="18" charset="0"/>
                <a:cs typeface="Times New Roman" panose="02020603050405020304" pitchFamily="18" charset="0"/>
              </a:rPr>
              <a:t>Compilation takes a comparatively long time in C/C++ because the compilers have to do a great deal of work optimizing the code.</a:t>
            </a:r>
          </a:p>
          <a:p>
            <a:r>
              <a:rPr lang="en-US" sz="2800" dirty="0">
                <a:latin typeface="Times New Roman" panose="02020603050405020304" pitchFamily="18" charset="0"/>
                <a:cs typeface="Times New Roman" panose="02020603050405020304" pitchFamily="18" charset="0"/>
              </a:rPr>
              <a:t>Task-oriented build tools, in contrast, keep no state between builds. This makes them less powerful and entirely unsuitable for compiling C++. </a:t>
            </a:r>
          </a:p>
          <a:p>
            <a:endParaRPr lang="en-US" dirty="0"/>
          </a:p>
        </p:txBody>
      </p:sp>
    </p:spTree>
    <p:extLst>
      <p:ext uri="{BB962C8B-B14F-4D97-AF65-F5344CB8AC3E}">
        <p14:creationId xmlns:p14="http://schemas.microsoft.com/office/powerpoint/2010/main" val="1974814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60257"/>
          </a:xfrm>
        </p:spPr>
        <p:txBody>
          <a:bodyPr/>
          <a:lstStyle/>
          <a:p>
            <a:r>
              <a:rPr lang="en-US" dirty="0"/>
              <a:t>Different types of build tools</a:t>
            </a:r>
          </a:p>
        </p:txBody>
      </p:sp>
      <p:sp>
        <p:nvSpPr>
          <p:cNvPr id="3" name="Content Placeholder 2"/>
          <p:cNvSpPr>
            <a:spLocks noGrp="1"/>
          </p:cNvSpPr>
          <p:nvPr>
            <p:ph idx="1"/>
          </p:nvPr>
        </p:nvSpPr>
        <p:spPr>
          <a:xfrm>
            <a:off x="1451579" y="1378424"/>
            <a:ext cx="9603275" cy="4913194"/>
          </a:xfrm>
        </p:spPr>
        <p:txBody>
          <a:bodyPr>
            <a:noAutofit/>
          </a:bodyPr>
          <a:lstStyle/>
          <a:p>
            <a:r>
              <a:rPr lang="en-US" sz="2400" dirty="0">
                <a:latin typeface="Times New Roman" panose="02020603050405020304" pitchFamily="18" charset="0"/>
                <a:cs typeface="Times New Roman" panose="02020603050405020304" pitchFamily="18" charset="0"/>
              </a:rPr>
              <a:t>Make</a:t>
            </a:r>
          </a:p>
          <a:p>
            <a:r>
              <a:rPr lang="en-US" sz="2400" dirty="0">
                <a:latin typeface="Times New Roman" panose="02020603050405020304" pitchFamily="18" charset="0"/>
                <a:cs typeface="Times New Roman" panose="02020603050405020304" pitchFamily="18" charset="0"/>
              </a:rPr>
              <a:t>Make  is a powerful product-oriented build tool capable of tracking dependencies within a build and building only those components that are affected by a particular change.</a:t>
            </a:r>
          </a:p>
          <a:p>
            <a:r>
              <a:rPr lang="en-US" sz="2400" dirty="0" err="1">
                <a:latin typeface="Times New Roman" panose="02020603050405020304" pitchFamily="18" charset="0"/>
                <a:cs typeface="Times New Roman" panose="02020603050405020304" pitchFamily="18" charset="0"/>
              </a:rPr>
              <a:t>Makefile</a:t>
            </a:r>
            <a:r>
              <a:rPr lang="en-US" sz="2400" dirty="0">
                <a:latin typeface="Times New Roman" panose="02020603050405020304" pitchFamily="18" charset="0"/>
                <a:cs typeface="Times New Roman" panose="02020603050405020304" pitchFamily="18" charset="0"/>
              </a:rPr>
              <a:t> is a program building tool which runs on Unix, Linux, and their flavors. It aids in simplifying building program executables that may need various modules. </a:t>
            </a:r>
          </a:p>
          <a:p>
            <a:r>
              <a:rPr lang="en-US" sz="2400" dirty="0">
                <a:latin typeface="Times New Roman" panose="02020603050405020304" pitchFamily="18" charset="0"/>
                <a:cs typeface="Times New Roman" panose="02020603050405020304" pitchFamily="18" charset="0"/>
              </a:rPr>
              <a:t>Make takes the help of user-defined </a:t>
            </a:r>
            <a:r>
              <a:rPr lang="en-US" sz="2400" dirty="0" err="1">
                <a:latin typeface="Times New Roman" panose="02020603050405020304" pitchFamily="18" charset="0"/>
                <a:cs typeface="Times New Roman" panose="02020603050405020304" pitchFamily="18" charset="0"/>
              </a:rPr>
              <a:t>makefiles</a:t>
            </a:r>
            <a:r>
              <a:rPr lang="en-US" sz="2400" dirty="0">
                <a:latin typeface="Times New Roman" panose="02020603050405020304" pitchFamily="18" charset="0"/>
                <a:cs typeface="Times New Roman" panose="02020603050405020304" pitchFamily="18" charset="0"/>
              </a:rPr>
              <a:t> for building.</a:t>
            </a:r>
          </a:p>
          <a:p>
            <a:r>
              <a:rPr lang="en-US" sz="2400" dirty="0" err="1">
                <a:latin typeface="Times New Roman" pitchFamily="18" charset="0"/>
                <a:cs typeface="Times New Roman" pitchFamily="18" charset="0"/>
              </a:rPr>
              <a:t>Makefiles</a:t>
            </a:r>
            <a:r>
              <a:rPr lang="en-US" sz="2400" dirty="0">
                <a:latin typeface="Times New Roman" pitchFamily="18" charset="0"/>
                <a:cs typeface="Times New Roman" pitchFamily="18" charset="0"/>
              </a:rPr>
              <a:t> are special format files that help build and manage the projects automatically</a:t>
            </a:r>
            <a:r>
              <a:rPr lang="en-US" sz="2400" dirty="0"/>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998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914400"/>
            <a:ext cx="9603275" cy="5209309"/>
          </a:xfrm>
        </p:spPr>
        <p:txBody>
          <a:bodyPr>
            <a:noAutofit/>
          </a:bodyPr>
          <a:lstStyle/>
          <a:p>
            <a:r>
              <a:rPr lang="en-US" sz="2400" dirty="0">
                <a:latin typeface="Times New Roman" panose="02020603050405020304" pitchFamily="18" charset="0"/>
                <a:cs typeface="Times New Roman" panose="02020603050405020304" pitchFamily="18" charset="0"/>
              </a:rPr>
              <a:t> Final binary will be dependent on various source code and source header files. </a:t>
            </a:r>
          </a:p>
          <a:p>
            <a:r>
              <a:rPr lang="en-US" sz="2400" dirty="0">
                <a:latin typeface="Times New Roman" panose="02020603050405020304" pitchFamily="18" charset="0"/>
                <a:cs typeface="Times New Roman" panose="02020603050405020304" pitchFamily="18" charset="0"/>
              </a:rPr>
              <a:t>Dependencies are important because they let the make Known about the source for any target. Consider the following example −</a:t>
            </a:r>
          </a:p>
          <a:p>
            <a:r>
              <a:rPr lang="en-US" sz="2400" dirty="0">
                <a:latin typeface="Times New Roman" panose="02020603050405020304" pitchFamily="18" charset="0"/>
                <a:cs typeface="Times New Roman" panose="02020603050405020304" pitchFamily="18" charset="0"/>
              </a:rPr>
              <a:t>hello: </a:t>
            </a:r>
            <a:r>
              <a:rPr lang="en-US" sz="2400" dirty="0" err="1">
                <a:latin typeface="Times New Roman" panose="02020603050405020304" pitchFamily="18" charset="0"/>
                <a:cs typeface="Times New Roman" panose="02020603050405020304" pitchFamily="18" charset="0"/>
              </a:rPr>
              <a:t>main.o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factorial.o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hello.o</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$(CC) </a:t>
            </a:r>
            <a:r>
              <a:rPr lang="en-US" sz="2400" dirty="0" err="1">
                <a:latin typeface="Times New Roman" panose="02020603050405020304" pitchFamily="18" charset="0"/>
                <a:cs typeface="Times New Roman" panose="02020603050405020304" pitchFamily="18" charset="0"/>
              </a:rPr>
              <a:t>main.o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factorial.o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hello.o</a:t>
            </a:r>
            <a:r>
              <a:rPr lang="en-US" sz="2400" dirty="0">
                <a:latin typeface="Times New Roman" panose="02020603050405020304" pitchFamily="18" charset="0"/>
                <a:cs typeface="Times New Roman" panose="02020603050405020304" pitchFamily="18" charset="0"/>
              </a:rPr>
              <a:t> -o hello</a:t>
            </a:r>
          </a:p>
          <a:p>
            <a:r>
              <a:rPr lang="en-US" sz="2400" dirty="0">
                <a:latin typeface="Times New Roman" panose="02020603050405020304" pitchFamily="18" charset="0"/>
                <a:cs typeface="Times New Roman" panose="02020603050405020304" pitchFamily="18" charset="0"/>
              </a:rPr>
              <a:t>Here, we tell the make that hello is dependent on </a:t>
            </a:r>
            <a:r>
              <a:rPr lang="en-US" sz="2400" dirty="0" err="1">
                <a:latin typeface="Times New Roman" panose="02020603050405020304" pitchFamily="18" charset="0"/>
                <a:cs typeface="Times New Roman" panose="02020603050405020304" pitchFamily="18" charset="0"/>
              </a:rPr>
              <a:t>main.o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factorial.o</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hello.o</a:t>
            </a:r>
            <a:r>
              <a:rPr lang="en-US" sz="2400" dirty="0">
                <a:latin typeface="Times New Roman" panose="02020603050405020304" pitchFamily="18" charset="0"/>
                <a:cs typeface="Times New Roman" panose="02020603050405020304" pitchFamily="18" charset="0"/>
              </a:rPr>
              <a:t> files. </a:t>
            </a:r>
          </a:p>
          <a:p>
            <a:r>
              <a:rPr lang="en-US" sz="2400" dirty="0">
                <a:latin typeface="Times New Roman" panose="02020603050405020304" pitchFamily="18" charset="0"/>
                <a:cs typeface="Times New Roman" panose="02020603050405020304" pitchFamily="18" charset="0"/>
              </a:rPr>
              <a:t>Hence, whenever there is a change in any of these object files, make will take action</a:t>
            </a:r>
          </a:p>
        </p:txBody>
      </p:sp>
    </p:spTree>
    <p:extLst>
      <p:ext uri="{BB962C8B-B14F-4D97-AF65-F5344CB8AC3E}">
        <p14:creationId xmlns:p14="http://schemas.microsoft.com/office/powerpoint/2010/main" val="629597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283" y="463325"/>
            <a:ext cx="9603275" cy="732733"/>
          </a:xfrm>
        </p:spPr>
        <p:txBody>
          <a:bodyPr/>
          <a:lstStyle/>
          <a:p>
            <a:r>
              <a:rPr lang="en-US" dirty="0"/>
              <a:t>Different types of build tools</a:t>
            </a:r>
          </a:p>
        </p:txBody>
      </p:sp>
      <p:sp>
        <p:nvSpPr>
          <p:cNvPr id="3" name="Content Placeholder 2"/>
          <p:cNvSpPr>
            <a:spLocks noGrp="1"/>
          </p:cNvSpPr>
          <p:nvPr>
            <p:ph idx="1"/>
          </p:nvPr>
        </p:nvSpPr>
        <p:spPr>
          <a:xfrm>
            <a:off x="1451579" y="1228300"/>
            <a:ext cx="9603275" cy="4238046"/>
          </a:xfrm>
        </p:spPr>
        <p:txBody>
          <a:bodyPr>
            <a:normAutofit/>
          </a:bodyPr>
          <a:lstStyle/>
          <a:p>
            <a:r>
              <a:rPr lang="en-US" sz="2800" dirty="0"/>
              <a:t>Ant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Ant is a task-oriented build tool. The runtime components of Ant are written in Java.</a:t>
            </a:r>
          </a:p>
          <a:p>
            <a:r>
              <a:rPr lang="en-US" sz="2800" dirty="0">
                <a:latin typeface="Times New Roman" panose="02020603050405020304" pitchFamily="18" charset="0"/>
                <a:cs typeface="Times New Roman" panose="02020603050405020304" pitchFamily="18" charset="0"/>
              </a:rPr>
              <a:t>Ant includes a set of tasks written in Java to perform common operations such as compilation and ﬁlesystem manipulation.</a:t>
            </a:r>
          </a:p>
          <a:p>
            <a:r>
              <a:rPr lang="en-US" sz="2800" dirty="0">
                <a:latin typeface="Times New Roman" panose="02020603050405020304" pitchFamily="18" charset="0"/>
                <a:cs typeface="Times New Roman" panose="02020603050405020304" pitchFamily="18" charset="0"/>
              </a:rPr>
              <a:t>Ant Create Specific folder structure and Compile all java programs</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477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532264"/>
            <a:ext cx="9603275" cy="641444"/>
          </a:xfrm>
        </p:spPr>
        <p:txBody>
          <a:bodyPr/>
          <a:lstStyle/>
          <a:p>
            <a:r>
              <a:rPr lang="en-US" dirty="0"/>
              <a:t>Different types of build tools</a:t>
            </a:r>
          </a:p>
        </p:txBody>
      </p:sp>
      <p:sp>
        <p:nvSpPr>
          <p:cNvPr id="3" name="Content Placeholder 2"/>
          <p:cNvSpPr>
            <a:spLocks noGrp="1"/>
          </p:cNvSpPr>
          <p:nvPr>
            <p:ph idx="1"/>
          </p:nvPr>
        </p:nvSpPr>
        <p:spPr>
          <a:xfrm>
            <a:off x="1451579" y="1173708"/>
            <a:ext cx="9603275" cy="5268036"/>
          </a:xfrm>
        </p:spPr>
        <p:txBody>
          <a:bodyPr>
            <a:noAutofit/>
          </a:bodyPr>
          <a:lstStyle/>
          <a:p>
            <a:pPr marL="0" indent="0">
              <a:buNone/>
            </a:pPr>
            <a:r>
              <a:rPr lang="en-US" sz="2800" dirty="0" err="1"/>
              <a:t>NAnt</a:t>
            </a:r>
            <a:r>
              <a:rPr lang="en-US" sz="2800" dirty="0"/>
              <a:t> and </a:t>
            </a:r>
            <a:r>
              <a:rPr lang="en-US" sz="2800" dirty="0" err="1"/>
              <a:t>MSBuild</a:t>
            </a:r>
            <a:endParaRPr lang="en-US" sz="2800" dirty="0"/>
          </a:p>
          <a:p>
            <a:r>
              <a:rPr lang="en-US" sz="2800" dirty="0">
                <a:latin typeface="Times New Roman" panose="02020603050405020304" pitchFamily="18" charset="0"/>
                <a:cs typeface="Times New Roman" panose="02020603050405020304" pitchFamily="18" charset="0"/>
              </a:rPr>
              <a:t>When Microsoft ﬁrst introduced the .NET framework, it had many features in common with the Java language and environment. </a:t>
            </a:r>
          </a:p>
          <a:p>
            <a:r>
              <a:rPr lang="en-US" sz="2800" dirty="0">
                <a:latin typeface="Times New Roman" panose="02020603050405020304" pitchFamily="18" charset="0"/>
                <a:cs typeface="Times New Roman" panose="02020603050405020304" pitchFamily="18" charset="0"/>
              </a:rPr>
              <a:t>Java developers who worked on this new platform quickly ported some of their favorite open source Java tools. </a:t>
            </a:r>
          </a:p>
          <a:p>
            <a:r>
              <a:rPr lang="en-US" sz="2800" dirty="0">
                <a:latin typeface="Times New Roman" panose="02020603050405020304" pitchFamily="18" charset="0"/>
                <a:cs typeface="Times New Roman" panose="02020603050405020304" pitchFamily="18" charset="0"/>
              </a:rPr>
              <a:t>So instead of JUnit and </a:t>
            </a:r>
            <a:r>
              <a:rPr lang="en-US" sz="2800" dirty="0" err="1">
                <a:latin typeface="Times New Roman" panose="02020603050405020304" pitchFamily="18" charset="0"/>
                <a:cs typeface="Times New Roman" panose="02020603050405020304" pitchFamily="18" charset="0"/>
              </a:rPr>
              <a:t>JMock</a:t>
            </a:r>
            <a:r>
              <a:rPr lang="en-US" sz="2800" dirty="0">
                <a:latin typeface="Times New Roman" panose="02020603050405020304" pitchFamily="18" charset="0"/>
                <a:cs typeface="Times New Roman" panose="02020603050405020304" pitchFamily="18" charset="0"/>
              </a:rPr>
              <a:t> we have </a:t>
            </a:r>
            <a:r>
              <a:rPr lang="en-US" sz="2800" dirty="0" err="1">
                <a:latin typeface="Times New Roman" panose="02020603050405020304" pitchFamily="18" charset="0"/>
                <a:cs typeface="Times New Roman" panose="02020603050405020304" pitchFamily="18" charset="0"/>
              </a:rPr>
              <a:t>NUnit</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NMock</a:t>
            </a:r>
            <a:r>
              <a:rPr lang="en-US" sz="2800" dirty="0">
                <a:latin typeface="Times New Roman" panose="02020603050405020304" pitchFamily="18" charset="0"/>
                <a:cs typeface="Times New Roman" panose="02020603050405020304" pitchFamily="18" charset="0"/>
              </a:rPr>
              <a:t>—and </a:t>
            </a:r>
            <a:r>
              <a:rPr lang="en-US" sz="2800" dirty="0" err="1">
                <a:latin typeface="Times New Roman" panose="02020603050405020304" pitchFamily="18" charset="0"/>
                <a:cs typeface="Times New Roman" panose="02020603050405020304" pitchFamily="18" charset="0"/>
              </a:rPr>
              <a:t>NAnt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NAnt</a:t>
            </a:r>
            <a:r>
              <a:rPr lang="en-US" sz="2800" dirty="0">
                <a:latin typeface="Times New Roman" panose="02020603050405020304" pitchFamily="18" charset="0"/>
                <a:cs typeface="Times New Roman" panose="02020603050405020304" pitchFamily="18" charset="0"/>
              </a:rPr>
              <a:t> uses essentially the same syntax as Ant, with only a few differences </a:t>
            </a:r>
          </a:p>
        </p:txBody>
      </p:sp>
    </p:spTree>
    <p:extLst>
      <p:ext uri="{BB962C8B-B14F-4D97-AF65-F5344CB8AC3E}">
        <p14:creationId xmlns:p14="http://schemas.microsoft.com/office/powerpoint/2010/main" val="120632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anose="02020603050405020304" pitchFamily="18" charset="0"/>
              </a:rPr>
              <a:t>Microsoft later introduced their own minor variation on </a:t>
            </a:r>
            <a:r>
              <a:rPr lang="en-US" sz="2800" dirty="0" err="1">
                <a:latin typeface="Times New Roman" panose="02020603050405020304" pitchFamily="18" charset="0"/>
                <a:cs typeface="Times New Roman" panose="02020603050405020304" pitchFamily="18" charset="0"/>
              </a:rPr>
              <a:t>NAnt</a:t>
            </a:r>
            <a:r>
              <a:rPr lang="en-US" sz="2800" dirty="0">
                <a:latin typeface="Times New Roman" panose="02020603050405020304" pitchFamily="18" charset="0"/>
                <a:cs typeface="Times New Roman" panose="02020603050405020304" pitchFamily="18" charset="0"/>
              </a:rPr>
              <a:t> and called it </a:t>
            </a:r>
            <a:r>
              <a:rPr lang="en-US" sz="2800" dirty="0" err="1">
                <a:latin typeface="Times New Roman" panose="02020603050405020304" pitchFamily="18" charset="0"/>
                <a:cs typeface="Times New Roman" panose="02020603050405020304" pitchFamily="18" charset="0"/>
              </a:rPr>
              <a:t>MSBuild</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It is a direct descendant of Ant and </a:t>
            </a:r>
            <a:r>
              <a:rPr lang="en-US" sz="2800" dirty="0" err="1">
                <a:latin typeface="Times New Roman" pitchFamily="18" charset="0"/>
                <a:cs typeface="Times New Roman" pitchFamily="18" charset="0"/>
              </a:rPr>
              <a:t>Nant</a:t>
            </a:r>
            <a:r>
              <a:rPr lang="en-US" sz="2800" dirty="0">
                <a:latin typeface="Times New Roman" pitchFamily="18" charset="0"/>
                <a:cs typeface="Times New Roman" pitchFamily="18" charset="0"/>
              </a:rPr>
              <a:t>.</a:t>
            </a:r>
          </a:p>
          <a:p>
            <a:r>
              <a:rPr lang="en-US" sz="2800" dirty="0">
                <a:latin typeface="Times New Roman" pitchFamily="18" charset="0"/>
                <a:cs typeface="Times New Roman" pitchFamily="18" charset="0"/>
              </a:rPr>
              <a:t> It is used in Visual Studio, to build Visual Studio solutions and projects and  manage dependencies</a:t>
            </a:r>
          </a:p>
        </p:txBody>
      </p:sp>
    </p:spTree>
    <p:extLst>
      <p:ext uri="{BB962C8B-B14F-4D97-AF65-F5344CB8AC3E}">
        <p14:creationId xmlns:p14="http://schemas.microsoft.com/office/powerpoint/2010/main" val="34083716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types of build tools</a:t>
            </a:r>
          </a:p>
        </p:txBody>
      </p:sp>
      <p:sp>
        <p:nvSpPr>
          <p:cNvPr id="3" name="Content Placeholder 2"/>
          <p:cNvSpPr>
            <a:spLocks noGrp="1"/>
          </p:cNvSpPr>
          <p:nvPr>
            <p:ph idx="1"/>
          </p:nvPr>
        </p:nvSpPr>
        <p:spPr>
          <a:xfrm>
            <a:off x="1451579" y="1992572"/>
            <a:ext cx="9603275" cy="4593757"/>
          </a:xfrm>
        </p:spPr>
        <p:txBody>
          <a:bodyPr>
            <a:normAutofit/>
          </a:bodyPr>
          <a:lstStyle/>
          <a:p>
            <a:pPr marL="0" indent="0">
              <a:buNone/>
            </a:pPr>
            <a:r>
              <a:rPr lang="en-US" sz="2500" dirty="0">
                <a:latin typeface="Times New Roman" panose="02020603050405020304" pitchFamily="18" charset="0"/>
                <a:cs typeface="Times New Roman" panose="02020603050405020304" pitchFamily="18" charset="0"/>
              </a:rPr>
              <a:t>Maven</a:t>
            </a:r>
          </a:p>
          <a:p>
            <a:pPr>
              <a:buFont typeface="Wingdings" pitchFamily="2" charset="2"/>
              <a:buChar char="Ø"/>
            </a:pPr>
            <a:r>
              <a:rPr lang="en-US" sz="2500" dirty="0">
                <a:latin typeface="Times New Roman" panose="02020603050405020304" pitchFamily="18" charset="0"/>
                <a:cs typeface="Times New Roman" panose="02020603050405020304" pitchFamily="18" charset="0"/>
              </a:rPr>
              <a:t>Maven is a software project management and comprehension tool.</a:t>
            </a:r>
          </a:p>
          <a:p>
            <a:pPr>
              <a:buFont typeface="Wingdings" pitchFamily="2" charset="2"/>
              <a:buChar char="Ø"/>
            </a:pPr>
            <a:r>
              <a:rPr lang="en-US" sz="2500" dirty="0">
                <a:latin typeface="Times New Roman" panose="02020603050405020304" pitchFamily="18" charset="0"/>
                <a:cs typeface="Times New Roman" panose="02020603050405020304" pitchFamily="18" charset="0"/>
              </a:rPr>
              <a:t>Used to  handle enterprise level Java projects development.</a:t>
            </a:r>
          </a:p>
          <a:p>
            <a:pPr>
              <a:buFont typeface="Wingdings" pitchFamily="2" charset="2"/>
              <a:buChar char="Ø"/>
            </a:pPr>
            <a:r>
              <a:rPr lang="en-US" sz="2800" dirty="0">
                <a:latin typeface="Times New Roman" pitchFamily="18" charset="0"/>
                <a:cs typeface="Times New Roman" pitchFamily="18" charset="0"/>
              </a:rPr>
              <a:t>Maven  support for automated management of Java libraries and dependencies between projects</a:t>
            </a:r>
            <a:endParaRPr lang="en-US" sz="2500" dirty="0">
              <a:latin typeface="Times New Roman" panose="02020603050405020304" pitchFamily="18" charset="0"/>
              <a:cs typeface="Times New Roman" panose="02020603050405020304" pitchFamily="18" charset="0"/>
            </a:endParaRPr>
          </a:p>
          <a:p>
            <a:pPr>
              <a:buFont typeface="Wingdings" pitchFamily="2" charset="2"/>
              <a:buChar char="Ø"/>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54791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1853754"/>
            <a:ext cx="9603275" cy="3612591"/>
          </a:xfrm>
        </p:spPr>
        <p:txBody>
          <a:bodyPr>
            <a:noAutofit/>
          </a:bodyPr>
          <a:lstStyle/>
          <a:p>
            <a:r>
              <a:rPr lang="en-US" sz="2400" dirty="0">
                <a:latin typeface="Times New Roman" panose="02020603050405020304" pitchFamily="18" charset="0"/>
                <a:cs typeface="Times New Roman" panose="02020603050405020304" pitchFamily="18" charset="0"/>
              </a:rPr>
              <a:t>Maven simplifies and standardizes the project build process. It handles compilation, distribution, documentation, team collaboration etc. </a:t>
            </a:r>
          </a:p>
          <a:p>
            <a:r>
              <a:rPr lang="en-US" sz="2400" dirty="0">
                <a:latin typeface="Times New Roman" panose="02020603050405020304" pitchFamily="18" charset="0"/>
                <a:cs typeface="Times New Roman" panose="02020603050405020304" pitchFamily="18" charset="0"/>
              </a:rPr>
              <a:t>Maven increases reusability and takes care of most of build related tasks.</a:t>
            </a:r>
          </a:p>
          <a:p>
            <a:r>
              <a:rPr lang="en-US" sz="2400" dirty="0">
                <a:latin typeface="Times New Roman" panose="02020603050405020304" pitchFamily="18" charset="0"/>
                <a:cs typeface="Times New Roman" panose="02020603050405020304" pitchFamily="18" charset="0"/>
              </a:rPr>
              <a:t>Developers do not have to mention each and every configuration detail. Maven provides sensible default behavior for projects. </a:t>
            </a:r>
          </a:p>
        </p:txBody>
      </p:sp>
    </p:spTree>
    <p:extLst>
      <p:ext uri="{BB962C8B-B14F-4D97-AF65-F5344CB8AC3E}">
        <p14:creationId xmlns:p14="http://schemas.microsoft.com/office/powerpoint/2010/main" val="958977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683087"/>
          </a:xfrm>
        </p:spPr>
        <p:txBody>
          <a:bodyPr/>
          <a:lstStyle/>
          <a:p>
            <a:r>
              <a:rPr lang="en-US" dirty="0"/>
              <a:t>Different types of build tools</a:t>
            </a:r>
          </a:p>
        </p:txBody>
      </p:sp>
      <p:sp>
        <p:nvSpPr>
          <p:cNvPr id="3" name="Content Placeholder 2"/>
          <p:cNvSpPr>
            <a:spLocks noGrp="1"/>
          </p:cNvSpPr>
          <p:nvPr>
            <p:ph idx="1"/>
          </p:nvPr>
        </p:nvSpPr>
        <p:spPr>
          <a:xfrm>
            <a:off x="1451579" y="1473958"/>
            <a:ext cx="9603275" cy="3992387"/>
          </a:xfrm>
        </p:spPr>
        <p:txBody>
          <a:bodyPr>
            <a:normAutofit/>
          </a:bodyPr>
          <a:lstStyle/>
          <a:p>
            <a:r>
              <a:rPr lang="en-US" sz="2400" dirty="0"/>
              <a:t>Rake</a:t>
            </a:r>
          </a:p>
          <a:p>
            <a:r>
              <a:rPr lang="en-US" sz="2800" dirty="0">
                <a:latin typeface="Times New Roman" pitchFamily="18" charset="0"/>
                <a:cs typeface="Times New Roman" pitchFamily="18" charset="0"/>
              </a:rPr>
              <a:t>Rake was developed by Ruby programmers and is widely used for Ruby projects</a:t>
            </a:r>
          </a:p>
          <a:p>
            <a:r>
              <a:rPr lang="en-US" sz="2800" dirty="0">
                <a:latin typeface="Times New Roman" pitchFamily="18" charset="0"/>
                <a:cs typeface="Times New Roman" pitchFamily="18" charset="0"/>
              </a:rPr>
              <a:t>Ruby build tool,</a:t>
            </a:r>
          </a:p>
          <a:p>
            <a:r>
              <a:rPr lang="en-US" sz="2800" dirty="0">
                <a:latin typeface="Times New Roman" pitchFamily="18" charset="0"/>
                <a:cs typeface="Times New Roman" pitchFamily="18" charset="0"/>
              </a:rPr>
              <a:t>Rake scripts are plain Ruby.</a:t>
            </a:r>
          </a:p>
          <a:p>
            <a:r>
              <a:rPr lang="en-US" sz="2800" dirty="0">
                <a:latin typeface="Times New Roman" pitchFamily="18" charset="0"/>
                <a:cs typeface="Times New Roman" pitchFamily="18" charset="0"/>
              </a:rPr>
              <a:t>Rake tasks are also used for building .NET systems</a:t>
            </a:r>
          </a:p>
          <a:p>
            <a:endParaRPr lang="en-US" dirty="0"/>
          </a:p>
          <a:p>
            <a:endParaRPr lang="en-US" dirty="0"/>
          </a:p>
        </p:txBody>
      </p:sp>
    </p:spTree>
    <p:extLst>
      <p:ext uri="{BB962C8B-B14F-4D97-AF65-F5344CB8AC3E}">
        <p14:creationId xmlns:p14="http://schemas.microsoft.com/office/powerpoint/2010/main" val="1782649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60257"/>
          </a:xfrm>
        </p:spPr>
        <p:txBody>
          <a:bodyPr/>
          <a:lstStyle/>
          <a:p>
            <a:r>
              <a:rPr lang="en-US" dirty="0"/>
              <a:t>Different types of build tools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The new generation build tools, are  </a:t>
            </a:r>
            <a:r>
              <a:rPr lang="en-US" sz="2800" dirty="0" err="1">
                <a:latin typeface="Times New Roman" pitchFamily="18" charset="0"/>
                <a:cs typeface="Times New Roman" pitchFamily="18" charset="0"/>
              </a:rPr>
              <a:t>Buildr</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Gradle</a:t>
            </a:r>
            <a:r>
              <a:rPr lang="en-US" sz="2800" dirty="0">
                <a:latin typeface="Times New Roman" pitchFamily="18" charset="0"/>
                <a:cs typeface="Times New Roman" pitchFamily="18" charset="0"/>
              </a:rPr>
              <a:t>, and Gantt.</a:t>
            </a:r>
          </a:p>
          <a:p>
            <a:r>
              <a:rPr lang="en-US" sz="2800" dirty="0">
                <a:latin typeface="Times New Roman" pitchFamily="18" charset="0"/>
                <a:cs typeface="Times New Roman" pitchFamily="18" charset="0"/>
              </a:rPr>
              <a:t>It uses the same conventions that Maven does, including </a:t>
            </a:r>
            <a:r>
              <a:rPr lang="en-US" sz="2800" dirty="0" err="1">
                <a:latin typeface="Times New Roman" pitchFamily="18" charset="0"/>
                <a:cs typeface="Times New Roman" pitchFamily="18" charset="0"/>
              </a:rPr>
              <a:t>filesystem</a:t>
            </a:r>
            <a:r>
              <a:rPr lang="en-US" sz="2800" dirty="0">
                <a:latin typeface="Times New Roman" pitchFamily="18" charset="0"/>
                <a:cs typeface="Times New Roman" pitchFamily="18" charset="0"/>
              </a:rPr>
              <a:t> layout, artifact specifications, and repositories</a:t>
            </a:r>
          </a:p>
        </p:txBody>
      </p:sp>
    </p:spTree>
    <p:extLst>
      <p:ext uri="{BB962C8B-B14F-4D97-AF65-F5344CB8AC3E}">
        <p14:creationId xmlns:p14="http://schemas.microsoft.com/office/powerpoint/2010/main" val="3522421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and Practices of Build and Deployment Scripting</a:t>
            </a:r>
          </a:p>
        </p:txBody>
      </p:sp>
      <p:sp>
        <p:nvSpPr>
          <p:cNvPr id="3" name="Content Placeholder 2"/>
          <p:cNvSpPr>
            <a:spLocks noGrp="1"/>
          </p:cNvSpPr>
          <p:nvPr>
            <p:ph idx="1"/>
          </p:nvPr>
        </p:nvSpPr>
        <p:spPr>
          <a:xfrm>
            <a:off x="1451579" y="2015732"/>
            <a:ext cx="9603275" cy="3900159"/>
          </a:xfrm>
        </p:spPr>
        <p:txBody>
          <a:bodyPr>
            <a:normAutofit fontScale="92500" lnSpcReduction="20000"/>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deployment pipeline is essentially the path to deploy your code to production reliably</a:t>
            </a: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Each stage in deployment pipeline consists of a set of commands that are run to accomplish a specific purpose</a:t>
            </a:r>
            <a:endParaRPr lang="en-US" sz="2800" b="1" i="1" dirty="0">
              <a:latin typeface="Times New Roman" panose="02020603050405020304" pitchFamily="18" charset="0"/>
              <a:cs typeface="Times New Roman" panose="02020603050405020304" pitchFamily="18" charset="0"/>
            </a:endParaRPr>
          </a:p>
          <a:p>
            <a:pPr marL="0" indent="0">
              <a:buNone/>
            </a:pPr>
            <a:r>
              <a:rPr lang="en-US" sz="2800" b="1" i="1" dirty="0">
                <a:solidFill>
                  <a:srgbClr val="FF0000"/>
                </a:solidFill>
                <a:latin typeface="Times New Roman" panose="02020603050405020304" pitchFamily="18" charset="0"/>
                <a:cs typeface="Times New Roman" panose="02020603050405020304" pitchFamily="18" charset="0"/>
              </a:rPr>
              <a:t>Create a Script for Each Stage in Your Deployment Pipeline</a:t>
            </a:r>
          </a:p>
          <a:p>
            <a:pPr marL="0" indent="0">
              <a:buNone/>
            </a:pPr>
            <a:r>
              <a:rPr lang="en-US" sz="2800" dirty="0">
                <a:solidFill>
                  <a:srgbClr val="00B0F0"/>
                </a:solidFill>
                <a:latin typeface="Times New Roman" panose="02020603050405020304" pitchFamily="18" charset="0"/>
                <a:cs typeface="Times New Roman" panose="02020603050405020304" pitchFamily="18" charset="0"/>
              </a:rPr>
              <a:t>Commit script </a:t>
            </a:r>
            <a:r>
              <a:rPr lang="en-US" sz="2800" dirty="0">
                <a:latin typeface="Times New Roman" panose="02020603050405020304" pitchFamily="18" charset="0"/>
                <a:cs typeface="Times New Roman" panose="02020603050405020304" pitchFamily="18" charset="0"/>
              </a:rPr>
              <a:t>- containing all the targets required to compile your application, package it, run the commit test suite, and perform static analysis of the code.</a:t>
            </a:r>
          </a:p>
        </p:txBody>
      </p:sp>
    </p:spTree>
    <p:extLst>
      <p:ext uri="{BB962C8B-B14F-4D97-AF65-F5344CB8AC3E}">
        <p14:creationId xmlns:p14="http://schemas.microsoft.com/office/powerpoint/2010/main" val="3743972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400" dirty="0">
                <a:solidFill>
                  <a:srgbClr val="00B0F0"/>
                </a:solidFill>
                <a:latin typeface="Times New Roman" panose="02020603050405020304" pitchFamily="18" charset="0"/>
                <a:cs typeface="Times New Roman" panose="02020603050405020304" pitchFamily="18" charset="0"/>
              </a:rPr>
              <a:t>Functional acceptance test script  </a:t>
            </a:r>
            <a:r>
              <a:rPr lang="en-US" sz="2400" dirty="0">
                <a:latin typeface="Times New Roman" panose="02020603050405020304" pitchFamily="18" charset="0"/>
                <a:cs typeface="Times New Roman" panose="02020603050405020304" pitchFamily="18" charset="0"/>
              </a:rPr>
              <a:t>that calls your deployment tool to deploy the application to the appropriate environment, then prepares any data, and finally runs the acceptance tests. </a:t>
            </a:r>
          </a:p>
          <a:p>
            <a:pPr marL="0" indent="0">
              <a:buNone/>
            </a:pPr>
            <a:r>
              <a:rPr lang="en-US" sz="2400" dirty="0">
                <a:solidFill>
                  <a:srgbClr val="00B0F0"/>
                </a:solidFill>
                <a:latin typeface="Times New Roman" panose="02020603050405020304" pitchFamily="18" charset="0"/>
                <a:cs typeface="Times New Roman" panose="02020603050405020304" pitchFamily="18" charset="0"/>
              </a:rPr>
              <a:t>Nonfunctional tests scripts </a:t>
            </a:r>
            <a:r>
              <a:rPr lang="en-US" sz="2400" dirty="0">
                <a:latin typeface="Times New Roman" panose="02020603050405020304" pitchFamily="18" charset="0"/>
                <a:cs typeface="Times New Roman" panose="02020603050405020304" pitchFamily="18" charset="0"/>
              </a:rPr>
              <a:t>that run non functional test such as stress tests or security tests.</a:t>
            </a:r>
          </a:p>
          <a:p>
            <a:endParaRPr lang="en-US" dirty="0"/>
          </a:p>
        </p:txBody>
      </p:sp>
    </p:spTree>
    <p:extLst>
      <p:ext uri="{BB962C8B-B14F-4D97-AF65-F5344CB8AC3E}">
        <p14:creationId xmlns:p14="http://schemas.microsoft.com/office/powerpoint/2010/main" val="15982579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31" y="763575"/>
            <a:ext cx="9603275" cy="1049235"/>
          </a:xfrm>
        </p:spPr>
        <p:txBody>
          <a:bodyPr/>
          <a:lstStyle/>
          <a:p>
            <a:r>
              <a:rPr lang="en-US" dirty="0"/>
              <a:t>Principles and Practices of Build and Deployment Scripting</a:t>
            </a:r>
          </a:p>
        </p:txBody>
      </p:sp>
      <p:sp>
        <p:nvSpPr>
          <p:cNvPr id="3" name="Content Placeholder 2"/>
          <p:cNvSpPr>
            <a:spLocks noGrp="1"/>
          </p:cNvSpPr>
          <p:nvPr>
            <p:ph idx="1"/>
          </p:nvPr>
        </p:nvSpPr>
        <p:spPr/>
        <p:txBody>
          <a:bodyPr>
            <a:noAutofit/>
          </a:bodyPr>
          <a:lstStyle/>
          <a:p>
            <a:r>
              <a:rPr lang="en-US" sz="2800" dirty="0">
                <a:solidFill>
                  <a:srgbClr val="FF0000"/>
                </a:solidFill>
                <a:latin typeface="Times New Roman" panose="02020603050405020304" pitchFamily="18" charset="0"/>
                <a:cs typeface="Times New Roman" panose="02020603050405020304" pitchFamily="18" charset="0"/>
              </a:rPr>
              <a:t>Use an Appropriate Technology to Deploy Your Application </a:t>
            </a:r>
          </a:p>
          <a:p>
            <a:r>
              <a:rPr lang="en-US" sz="2800" dirty="0">
                <a:latin typeface="Times New Roman" panose="02020603050405020304" pitchFamily="18" charset="0"/>
                <a:cs typeface="Times New Roman" panose="02020603050405020304" pitchFamily="18" charset="0"/>
              </a:rPr>
              <a:t>In  deployment pipeline, most stages  such as the automated acceptance test stage and user acceptance test stage after commit stage, depend upon the application being deployed to a production-like environment</a:t>
            </a:r>
          </a:p>
          <a:p>
            <a:r>
              <a:rPr lang="en-US" sz="2800" dirty="0">
                <a:latin typeface="Times New Roman" panose="02020603050405020304" pitchFamily="18" charset="0"/>
                <a:cs typeface="Times New Roman" panose="02020603050405020304" pitchFamily="18" charset="0"/>
              </a:rPr>
              <a:t>Deployment is automated . We should use the right tool for the job when automating deployment</a:t>
            </a:r>
          </a:p>
        </p:txBody>
      </p:sp>
    </p:spTree>
    <p:extLst>
      <p:ext uri="{BB962C8B-B14F-4D97-AF65-F5344CB8AC3E}">
        <p14:creationId xmlns:p14="http://schemas.microsoft.com/office/powerpoint/2010/main" val="1397163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1149928"/>
            <a:ext cx="9603275" cy="4752108"/>
          </a:xfrm>
        </p:spPr>
        <p:txBody>
          <a:bodyPr>
            <a:normAutofit fontScale="92500" lnSpcReduction="20000"/>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WebSphere Application Server,  use the </a:t>
            </a:r>
            <a:r>
              <a:rPr lang="en-US" sz="2600" dirty="0" err="1">
                <a:latin typeface="Times New Roman" panose="02020603050405020304" pitchFamily="18" charset="0"/>
                <a:cs typeface="Times New Roman" panose="02020603050405020304" pitchFamily="18" charset="0"/>
              </a:rPr>
              <a:t>Wsadmin</a:t>
            </a:r>
            <a:r>
              <a:rPr lang="en-US" sz="2600" dirty="0">
                <a:latin typeface="Times New Roman" panose="02020603050405020304" pitchFamily="18" charset="0"/>
                <a:cs typeface="Times New Roman" panose="02020603050405020304" pitchFamily="18" charset="0"/>
              </a:rPr>
              <a:t> tool to conﬁgure the container and deploy the application. </a:t>
            </a:r>
          </a:p>
          <a:p>
            <a:r>
              <a:rPr lang="en-US" sz="2600" dirty="0">
                <a:latin typeface="Times New Roman" panose="02020603050405020304" pitchFamily="18" charset="0"/>
                <a:cs typeface="Times New Roman" panose="02020603050405020304" pitchFamily="18" charset="0"/>
              </a:rPr>
              <a:t>WebSphere Application Server is a software framework that hosts Java based web applications.</a:t>
            </a:r>
          </a:p>
          <a:p>
            <a:r>
              <a:rPr lang="en-US" sz="2600" dirty="0">
                <a:latin typeface="Times New Roman" panose="02020603050405020304" pitchFamily="18" charset="0"/>
                <a:cs typeface="Times New Roman" panose="02020603050405020304" pitchFamily="18" charset="0"/>
              </a:rPr>
              <a:t>The </a:t>
            </a:r>
            <a:r>
              <a:rPr lang="en-US" sz="2600" b="1" dirty="0" err="1">
                <a:latin typeface="Times New Roman" panose="02020603050405020304" pitchFamily="18" charset="0"/>
                <a:cs typeface="Times New Roman" panose="02020603050405020304" pitchFamily="18" charset="0"/>
              </a:rPr>
              <a:t>Wsadmin</a:t>
            </a:r>
            <a:r>
              <a:rPr lang="en-US" sz="2600" dirty="0">
                <a:latin typeface="Times New Roman" panose="02020603050405020304" pitchFamily="18" charset="0"/>
                <a:cs typeface="Times New Roman" panose="02020603050405020304" pitchFamily="18" charset="0"/>
              </a:rPr>
              <a:t> tool can be used to execute scripts written in </a:t>
            </a:r>
            <a:r>
              <a:rPr lang="en-US" sz="2600" dirty="0" err="1">
                <a:latin typeface="Times New Roman" panose="02020603050405020304" pitchFamily="18" charset="0"/>
                <a:cs typeface="Times New Roman" panose="02020603050405020304" pitchFamily="18" charset="0"/>
              </a:rPr>
              <a:t>Jacl</a:t>
            </a:r>
            <a:r>
              <a:rPr lang="en-US" sz="2600" dirty="0">
                <a:latin typeface="Times New Roman" panose="02020603050405020304" pitchFamily="18" charset="0"/>
                <a:cs typeface="Times New Roman" panose="02020603050405020304" pitchFamily="18" charset="0"/>
              </a:rPr>
              <a:t> and </a:t>
            </a:r>
            <a:r>
              <a:rPr lang="en-US" sz="2600" dirty="0" err="1">
                <a:latin typeface="Times New Roman" panose="02020603050405020304" pitchFamily="18" charset="0"/>
                <a:cs typeface="Times New Roman" panose="02020603050405020304" pitchFamily="18" charset="0"/>
                <a:hlinkClick r:id="rId2" tooltip="Jython"/>
              </a:rPr>
              <a:t>Jython</a:t>
            </a:r>
            <a:r>
              <a:rPr lang="en-US" sz="2600" dirty="0">
                <a:latin typeface="Times New Roman" panose="02020603050405020304" pitchFamily="18" charset="0"/>
                <a:cs typeface="Times New Roman" panose="02020603050405020304" pitchFamily="18" charset="0"/>
              </a:rPr>
              <a:t>, . </a:t>
            </a:r>
          </a:p>
          <a:p>
            <a:r>
              <a:rPr lang="en-US" sz="2600" dirty="0">
                <a:latin typeface="Times New Roman" panose="02020603050405020304" pitchFamily="18" charset="0"/>
                <a:cs typeface="Times New Roman" panose="02020603050405020304" pitchFamily="18" charset="0"/>
              </a:rPr>
              <a:t>These scripts and commands perform administrative tasks like application deployment, configuration changes and run-time monitoring and control of IBM WAS.</a:t>
            </a:r>
          </a:p>
        </p:txBody>
      </p:sp>
    </p:spTree>
    <p:extLst>
      <p:ext uri="{BB962C8B-B14F-4D97-AF65-F5344CB8AC3E}">
        <p14:creationId xmlns:p14="http://schemas.microsoft.com/office/powerpoint/2010/main" val="5398813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20"/>
            <a:ext cx="9603275" cy="942394"/>
          </a:xfrm>
        </p:spPr>
        <p:txBody>
          <a:bodyPr>
            <a:normAutofit fontScale="90000"/>
          </a:bodyPr>
          <a:lstStyle/>
          <a:p>
            <a:r>
              <a:rPr lang="en-US" dirty="0"/>
              <a:t>Principles and Practices of Build and Deployment Scripting</a:t>
            </a:r>
          </a:p>
        </p:txBody>
      </p:sp>
      <p:sp>
        <p:nvSpPr>
          <p:cNvPr id="3" name="Content Placeholder 2"/>
          <p:cNvSpPr>
            <a:spLocks noGrp="1"/>
          </p:cNvSpPr>
          <p:nvPr>
            <p:ph idx="1"/>
          </p:nvPr>
        </p:nvSpPr>
        <p:spPr>
          <a:xfrm>
            <a:off x="1451579" y="1815152"/>
            <a:ext cx="9603275" cy="4312693"/>
          </a:xfrm>
        </p:spPr>
        <p:txBody>
          <a:bodyPr>
            <a:normAutofit/>
          </a:bodyPr>
          <a:lstStyle/>
          <a:p>
            <a:r>
              <a:rPr lang="en-US" sz="2800" dirty="0">
                <a:latin typeface="Times New Roman" panose="02020603050405020304" pitchFamily="18" charset="0"/>
                <a:cs typeface="Times New Roman" panose="02020603050405020304" pitchFamily="18" charset="0"/>
              </a:rPr>
              <a:t>The deployment script should cover the case of upgrading your application</a:t>
            </a:r>
          </a:p>
          <a:p>
            <a:r>
              <a:rPr lang="en-US" sz="2800" i="1" dirty="0">
                <a:solidFill>
                  <a:srgbClr val="FF0000"/>
                </a:solidFill>
              </a:rPr>
              <a:t>Use the Same Scripts to Deploy to Every Environment</a:t>
            </a:r>
          </a:p>
          <a:p>
            <a:r>
              <a:rPr lang="en-US" sz="2800" dirty="0">
                <a:latin typeface="Times New Roman" pitchFamily="18" charset="0"/>
                <a:cs typeface="Times New Roman" pitchFamily="18" charset="0"/>
              </a:rPr>
              <a:t>Use the same process(using the same scripts) to deploy to every environment in which your application runs to ensure that the build and deployment process is tested effectively</a:t>
            </a:r>
          </a:p>
        </p:txBody>
      </p:sp>
    </p:spTree>
    <p:extLst>
      <p:ext uri="{BB962C8B-B14F-4D97-AF65-F5344CB8AC3E}">
        <p14:creationId xmlns:p14="http://schemas.microsoft.com/office/powerpoint/2010/main" val="40782665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Every environment is different in some way. </a:t>
            </a:r>
          </a:p>
          <a:p>
            <a:r>
              <a:rPr lang="en-US" sz="2400" dirty="0">
                <a:latin typeface="Times New Roman" panose="02020603050405020304" pitchFamily="18" charset="0"/>
                <a:cs typeface="Times New Roman" panose="02020603050405020304" pitchFamily="18" charset="0"/>
              </a:rPr>
              <a:t>Operating system and middleware configuration settings, the location of databases and external services, and other configuration information that needs to be set at deployment time. </a:t>
            </a:r>
          </a:p>
          <a:p>
            <a:r>
              <a:rPr lang="en-US" sz="2400" dirty="0">
                <a:latin typeface="Times New Roman" panose="02020603050405020304" pitchFamily="18" charset="0"/>
                <a:cs typeface="Times New Roman" panose="02020603050405020304" pitchFamily="18" charset="0"/>
              </a:rPr>
              <a:t>This does not mean you should use a different deployment script for every environment. Instead, keep the settings that are unique for each environment separate. </a:t>
            </a:r>
          </a:p>
          <a:p>
            <a:r>
              <a:rPr lang="en-US" sz="2400" dirty="0">
                <a:latin typeface="Times New Roman" panose="02020603050405020304" pitchFamily="18" charset="0"/>
                <a:cs typeface="Times New Roman" panose="02020603050405020304" pitchFamily="18" charset="0"/>
              </a:rPr>
              <a:t>One way to do this is to use properties files to hold configuration information. </a:t>
            </a:r>
          </a:p>
        </p:txBody>
      </p:sp>
    </p:spTree>
    <p:extLst>
      <p:ext uri="{BB962C8B-B14F-4D97-AF65-F5344CB8AC3E}">
        <p14:creationId xmlns:p14="http://schemas.microsoft.com/office/powerpoint/2010/main" val="3664641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You can have a separate properties file for each environment. </a:t>
            </a:r>
          </a:p>
          <a:p>
            <a:r>
              <a:rPr lang="en-US" sz="2400" dirty="0">
                <a:latin typeface="Times New Roman" panose="02020603050405020304" pitchFamily="18" charset="0"/>
                <a:cs typeface="Times New Roman" panose="02020603050405020304" pitchFamily="18" charset="0"/>
              </a:rPr>
              <a:t>These files should be checked in to version control, and the correct one  is selected</a:t>
            </a:r>
          </a:p>
        </p:txBody>
      </p:sp>
    </p:spTree>
    <p:extLst>
      <p:ext uri="{BB962C8B-B14F-4D97-AF65-F5344CB8AC3E}">
        <p14:creationId xmlns:p14="http://schemas.microsoft.com/office/powerpoint/2010/main" val="39747895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327547"/>
            <a:ext cx="9603275" cy="1037229"/>
          </a:xfrm>
        </p:spPr>
        <p:txBody>
          <a:bodyPr/>
          <a:lstStyle/>
          <a:p>
            <a:r>
              <a:rPr lang="en-US" dirty="0"/>
              <a:t>Principles and Practices of Build and Deployment Scripting</a:t>
            </a:r>
          </a:p>
        </p:txBody>
      </p:sp>
      <p:sp>
        <p:nvSpPr>
          <p:cNvPr id="3" name="Content Placeholder 2"/>
          <p:cNvSpPr>
            <a:spLocks noGrp="1"/>
          </p:cNvSpPr>
          <p:nvPr>
            <p:ph idx="1"/>
          </p:nvPr>
        </p:nvSpPr>
        <p:spPr>
          <a:xfrm>
            <a:off x="1451579" y="1282890"/>
            <a:ext cx="9603275" cy="4183455"/>
          </a:xfrm>
        </p:spPr>
        <p:txBody>
          <a:bodyPr>
            <a:normAutofit/>
          </a:bodyPr>
          <a:lstStyle/>
          <a:p>
            <a:r>
              <a:rPr lang="en-US" sz="2800" b="1" i="1" dirty="0">
                <a:solidFill>
                  <a:srgbClr val="FF0000"/>
                </a:solidFill>
                <a:latin typeface="Times New Roman" pitchFamily="18" charset="0"/>
                <a:cs typeface="Times New Roman" pitchFamily="18" charset="0"/>
              </a:rPr>
              <a:t>Use Your Operating System’s Packaging Tools</a:t>
            </a:r>
          </a:p>
          <a:p>
            <a:r>
              <a:rPr lang="en-US" sz="2800" dirty="0">
                <a:latin typeface="Times New Roman" pitchFamily="18" charset="0"/>
                <a:cs typeface="Times New Roman" pitchFamily="18" charset="0"/>
              </a:rPr>
              <a:t>There  are a bunch of files( created by the build process), and  libraries that  your application requires.</a:t>
            </a:r>
          </a:p>
          <a:p>
            <a:r>
              <a:rPr lang="en-US" sz="2800" dirty="0">
                <a:latin typeface="Times New Roman" pitchFamily="18" charset="0"/>
                <a:cs typeface="Times New Roman" pitchFamily="18" charset="0"/>
              </a:rPr>
              <a:t>Deploying a bunch of files that need to be distributed across the filesystem is very inefficient</a:t>
            </a:r>
          </a:p>
          <a:p>
            <a:r>
              <a:rPr lang="en-US" sz="2800" dirty="0">
                <a:latin typeface="Times New Roman" pitchFamily="18" charset="0"/>
                <a:cs typeface="Times New Roman" pitchFamily="18" charset="0"/>
              </a:rPr>
              <a:t>Packaging systems were invented to bundle up everything that needs to be deployed.</a:t>
            </a:r>
          </a:p>
        </p:txBody>
      </p:sp>
    </p:spTree>
    <p:extLst>
      <p:ext uri="{BB962C8B-B14F-4D97-AF65-F5344CB8AC3E}">
        <p14:creationId xmlns:p14="http://schemas.microsoft.com/office/powerpoint/2010/main" val="39133534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Debian and Ubuntu both use the Debian package system; </a:t>
            </a:r>
            <a:r>
              <a:rPr lang="en-US" sz="2800" dirty="0" err="1">
                <a:latin typeface="Times New Roman" pitchFamily="18" charset="0"/>
                <a:cs typeface="Times New Roman" pitchFamily="18" charset="0"/>
              </a:rPr>
              <a:t>RedHat</a:t>
            </a:r>
            <a:r>
              <a:rPr lang="en-US" sz="2800" dirty="0">
                <a:latin typeface="Times New Roman" pitchFamily="18" charset="0"/>
                <a:cs typeface="Times New Roman" pitchFamily="18" charset="0"/>
              </a:rPr>
              <a:t>, and many other flavors of Linux use the </a:t>
            </a:r>
            <a:r>
              <a:rPr lang="en-US" sz="2800" dirty="0" err="1">
                <a:latin typeface="Times New Roman" pitchFamily="18" charset="0"/>
                <a:cs typeface="Times New Roman" pitchFamily="18" charset="0"/>
              </a:rPr>
              <a:t>RedHat</a:t>
            </a:r>
            <a:r>
              <a:rPr lang="en-US" sz="2800" dirty="0">
                <a:latin typeface="Times New Roman" pitchFamily="18" charset="0"/>
                <a:cs typeface="Times New Roman" pitchFamily="18" charset="0"/>
              </a:rPr>
              <a:t> package system; </a:t>
            </a:r>
          </a:p>
          <a:p>
            <a:r>
              <a:rPr lang="en-US" sz="2800" dirty="0">
                <a:latin typeface="Times New Roman" pitchFamily="18" charset="0"/>
                <a:cs typeface="Times New Roman" pitchFamily="18" charset="0"/>
              </a:rPr>
              <a:t>Windows users can use the Microsoft Installer system</a:t>
            </a:r>
          </a:p>
          <a:p>
            <a:endParaRPr lang="en-US" sz="2800" dirty="0"/>
          </a:p>
        </p:txBody>
      </p:sp>
    </p:spTree>
    <p:extLst>
      <p:ext uri="{BB962C8B-B14F-4D97-AF65-F5344CB8AC3E}">
        <p14:creationId xmlns:p14="http://schemas.microsoft.com/office/powerpoint/2010/main" val="14570446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1122218"/>
            <a:ext cx="9603275" cy="4344127"/>
          </a:xfrm>
        </p:spPr>
        <p:txBody>
          <a:bodyPr>
            <a:normAutofit/>
          </a:bodyPr>
          <a:lstStyle/>
          <a:p>
            <a:r>
              <a:rPr lang="en-US" sz="2800" b="1" i="1" dirty="0">
                <a:solidFill>
                  <a:srgbClr val="FF0000"/>
                </a:solidFill>
                <a:latin typeface="Times New Roman" pitchFamily="18" charset="0"/>
                <a:cs typeface="Times New Roman" pitchFamily="18" charset="0"/>
              </a:rPr>
              <a:t>Ensure the Deployment Process Is Idempotent</a:t>
            </a:r>
            <a:endParaRPr lang="en-US" sz="2800" dirty="0">
              <a:solidFill>
                <a:srgbClr val="FF0000"/>
              </a:solidFill>
              <a:latin typeface="Times New Roman" pitchFamily="18" charset="0"/>
              <a:cs typeface="Times New Roman" pitchFamily="18" charset="0"/>
            </a:endParaRPr>
          </a:p>
          <a:p>
            <a:r>
              <a:rPr lang="en-US" sz="2800" dirty="0">
                <a:latin typeface="Times New Roman" pitchFamily="18" charset="0"/>
                <a:cs typeface="Times New Roman" pitchFamily="18" charset="0"/>
              </a:rPr>
              <a:t>Your deployment process should always leave the target environment in the same (correct) state.</a:t>
            </a:r>
          </a:p>
        </p:txBody>
      </p:sp>
    </p:spTree>
    <p:extLst>
      <p:ext uri="{BB962C8B-B14F-4D97-AF65-F5344CB8AC3E}">
        <p14:creationId xmlns:p14="http://schemas.microsoft.com/office/powerpoint/2010/main" val="31009174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1419368"/>
            <a:ext cx="9603275" cy="4046978"/>
          </a:xfrm>
        </p:spPr>
        <p:txBody>
          <a:bodyPr>
            <a:noAutofit/>
          </a:bodyPr>
          <a:lstStyle/>
          <a:p>
            <a:r>
              <a:rPr lang="en-US" sz="2400" b="1" i="1" dirty="0">
                <a:solidFill>
                  <a:srgbClr val="FF0000"/>
                </a:solidFill>
                <a:latin typeface="Times New Roman" pitchFamily="18" charset="0"/>
                <a:cs typeface="Times New Roman" pitchFamily="18" charset="0"/>
              </a:rPr>
              <a:t>Evolve Your Deployment System Incrementally</a:t>
            </a:r>
            <a:endParaRPr lang="en-US" sz="2400" dirty="0">
              <a:solidFill>
                <a:srgbClr val="FF0000"/>
              </a:solidFill>
              <a:latin typeface="Times New Roman" pitchFamily="18" charset="0"/>
              <a:cs typeface="Times New Roman" pitchFamily="18" charset="0"/>
            </a:endParaRPr>
          </a:p>
          <a:p>
            <a:r>
              <a:rPr lang="en-US" sz="2400" dirty="0">
                <a:latin typeface="Times New Roman" pitchFamily="18" charset="0"/>
                <a:cs typeface="Times New Roman" pitchFamily="18" charset="0"/>
              </a:rPr>
              <a:t> You don’t have to have completed all of the steps to get value from your work</a:t>
            </a:r>
          </a:p>
          <a:p>
            <a:r>
              <a:rPr lang="en-US" sz="2400" dirty="0">
                <a:latin typeface="Times New Roman" pitchFamily="18" charset="0"/>
                <a:cs typeface="Times New Roman" pitchFamily="18" charset="0"/>
              </a:rPr>
              <a:t>Start by getting the operations team to work with developers to automate deployment of the application into a testing environment. </a:t>
            </a:r>
          </a:p>
          <a:p>
            <a:r>
              <a:rPr lang="en-US" sz="2400" dirty="0">
                <a:latin typeface="Times New Roman" pitchFamily="18" charset="0"/>
                <a:cs typeface="Times New Roman" pitchFamily="18" charset="0"/>
              </a:rPr>
              <a:t>Make sure that the operations people are comfortable with the tools being used to deploy. </a:t>
            </a:r>
          </a:p>
        </p:txBody>
      </p:sp>
    </p:spTree>
    <p:extLst>
      <p:ext uri="{BB962C8B-B14F-4D97-AF65-F5344CB8AC3E}">
        <p14:creationId xmlns:p14="http://schemas.microsoft.com/office/powerpoint/2010/main" val="22181785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The commit stage begins with  a commit to the version control system</a:t>
            </a:r>
          </a:p>
          <a:p>
            <a:r>
              <a:rPr lang="en-US" sz="2800" dirty="0">
                <a:latin typeface="Times New Roman" panose="02020603050405020304" pitchFamily="18" charset="0"/>
                <a:cs typeface="Times New Roman" panose="02020603050405020304" pitchFamily="18" charset="0"/>
              </a:rPr>
              <a:t>It ends with either a report of failure or, if successful, a collection of binary artifacts</a:t>
            </a:r>
          </a:p>
          <a:p>
            <a:r>
              <a:rPr lang="en-US" sz="2800" dirty="0">
                <a:latin typeface="Times New Roman" panose="02020603050405020304" pitchFamily="18" charset="0"/>
                <a:cs typeface="Times New Roman" panose="02020603050405020304" pitchFamily="18" charset="0"/>
              </a:rPr>
              <a:t>The commit stage is also the point at which you should begin the construction of your deployment pipeline</a:t>
            </a:r>
          </a:p>
        </p:txBody>
      </p:sp>
    </p:spTree>
    <p:extLst>
      <p:ext uri="{BB962C8B-B14F-4D97-AF65-F5344CB8AC3E}">
        <p14:creationId xmlns:p14="http://schemas.microsoft.com/office/powerpoint/2010/main" val="1200679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a:t>
            </a:r>
          </a:p>
        </p:txBody>
      </p:sp>
      <p:sp>
        <p:nvSpPr>
          <p:cNvPr id="3" name="Content Placeholder 2"/>
          <p:cNvSpPr>
            <a:spLocks noGrp="1"/>
          </p:cNvSpPr>
          <p:nvPr>
            <p:ph idx="1"/>
          </p:nvPr>
        </p:nvSpPr>
        <p:spPr>
          <a:xfrm>
            <a:off x="1451579" y="2015732"/>
            <a:ext cx="9603275" cy="3997141"/>
          </a:xfrm>
        </p:spPr>
        <p:txBody>
          <a:bodyPr>
            <a:normAutofit fontScale="92500" lnSpcReduction="20000"/>
          </a:bodyPr>
          <a:lstStyle/>
          <a:p>
            <a:pPr marL="0" indent="0">
              <a:buNone/>
            </a:pPr>
            <a:r>
              <a:rPr lang="en-US" sz="2800" dirty="0">
                <a:latin typeface="Times New Roman" panose="02020603050405020304" pitchFamily="18" charset="0"/>
                <a:cs typeface="Times New Roman" panose="02020603050405020304" pitchFamily="18" charset="0"/>
              </a:rPr>
              <a:t>The commit stage includes the following task</a:t>
            </a:r>
          </a:p>
          <a:p>
            <a:r>
              <a:rPr lang="en-US" sz="2800" dirty="0">
                <a:latin typeface="Times New Roman" panose="02020603050405020304" pitchFamily="18" charset="0"/>
                <a:cs typeface="Times New Roman" panose="02020603050405020304" pitchFamily="18" charset="0"/>
              </a:rPr>
              <a:t>Compiling (if necessary) and running the commit tests against the integrated source code</a:t>
            </a:r>
          </a:p>
          <a:p>
            <a:r>
              <a:rPr lang="en-US" sz="2800" dirty="0">
                <a:latin typeface="Times New Roman" panose="02020603050405020304" pitchFamily="18" charset="0"/>
                <a:cs typeface="Times New Roman" panose="02020603050405020304" pitchFamily="18" charset="0"/>
              </a:rPr>
              <a:t>Creating binaries that can be deployed into any environment.</a:t>
            </a:r>
          </a:p>
          <a:p>
            <a:r>
              <a:rPr lang="en-US" sz="2800" dirty="0">
                <a:latin typeface="Times New Roman" panose="02020603050405020304" pitchFamily="18" charset="0"/>
                <a:cs typeface="Times New Roman" panose="02020603050405020304" pitchFamily="18" charset="0"/>
              </a:rPr>
              <a:t>Performing any analysis necessary to check the health of the codebase.</a:t>
            </a:r>
          </a:p>
          <a:p>
            <a:r>
              <a:rPr lang="en-US" sz="2800" dirty="0">
                <a:latin typeface="Times New Roman" panose="02020603050405020304" pitchFamily="18" charset="0"/>
                <a:cs typeface="Times New Roman" panose="02020603050405020304" pitchFamily="18" charset="0"/>
              </a:rPr>
              <a:t>Creating any other artifacts (such as  test data) that will be used later in the deployment pipeline</a:t>
            </a:r>
          </a:p>
          <a:p>
            <a:endParaRPr lang="en-US" dirty="0"/>
          </a:p>
        </p:txBody>
      </p:sp>
    </p:spTree>
    <p:extLst>
      <p:ext uri="{BB962C8B-B14F-4D97-AF65-F5344CB8AC3E}">
        <p14:creationId xmlns:p14="http://schemas.microsoft.com/office/powerpoint/2010/main" val="7047696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3413" y="1620982"/>
            <a:ext cx="5784041" cy="4571999"/>
          </a:xfrm>
        </p:spPr>
      </p:pic>
    </p:spTree>
    <p:extLst>
      <p:ext uri="{BB962C8B-B14F-4D97-AF65-F5344CB8AC3E}">
        <p14:creationId xmlns:p14="http://schemas.microsoft.com/office/powerpoint/2010/main" val="16668885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These tasks are performed by build scripts that are run by your continuous integration server.</a:t>
            </a:r>
          </a:p>
          <a:p>
            <a:r>
              <a:rPr lang="en-US" sz="2800" dirty="0">
                <a:latin typeface="Times New Roman" panose="02020603050405020304" pitchFamily="18" charset="0"/>
                <a:cs typeface="Times New Roman" panose="02020603050405020304" pitchFamily="18" charset="0"/>
              </a:rPr>
              <a:t>For developers, the commit stage is the most important feedback cycle in the development process. </a:t>
            </a:r>
          </a:p>
          <a:p>
            <a:r>
              <a:rPr lang="en-US" sz="2800" dirty="0">
                <a:latin typeface="Times New Roman" panose="02020603050405020304" pitchFamily="18" charset="0"/>
                <a:cs typeface="Times New Roman" panose="02020603050405020304" pitchFamily="18" charset="0"/>
              </a:rPr>
              <a:t>The result of the commit stage represents a signiﬁcant event in the life of every release candidate</a:t>
            </a:r>
          </a:p>
        </p:txBody>
      </p:sp>
    </p:spTree>
    <p:extLst>
      <p:ext uri="{BB962C8B-B14F-4D97-AF65-F5344CB8AC3E}">
        <p14:creationId xmlns:p14="http://schemas.microsoft.com/office/powerpoint/2010/main" val="5579719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 principles and practices</a:t>
            </a:r>
          </a:p>
        </p:txBody>
      </p:sp>
      <p:sp>
        <p:nvSpPr>
          <p:cNvPr id="3" name="Content Placeholder 2"/>
          <p:cNvSpPr>
            <a:spLocks noGrp="1"/>
          </p:cNvSpPr>
          <p:nvPr>
            <p:ph idx="1"/>
          </p:nvPr>
        </p:nvSpPr>
        <p:spPr>
          <a:xfrm>
            <a:off x="1451579" y="1427018"/>
            <a:ext cx="9603275" cy="4039327"/>
          </a:xfrm>
        </p:spPr>
        <p:txBody>
          <a:bodyPr>
            <a:noAutofit/>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Provide Fast, Useful Feedback </a:t>
            </a:r>
          </a:p>
          <a:p>
            <a:r>
              <a:rPr lang="en-US" sz="2400" dirty="0">
                <a:latin typeface="Times New Roman" panose="02020603050405020304" pitchFamily="18" charset="0"/>
                <a:cs typeface="Times New Roman" panose="02020603050405020304" pitchFamily="18" charset="0"/>
              </a:rPr>
              <a:t>Failures in the commit tests can be due to three causes:</a:t>
            </a:r>
          </a:p>
          <a:p>
            <a:r>
              <a:rPr lang="en-US" sz="2400" dirty="0">
                <a:latin typeface="Times New Roman" panose="02020603050405020304" pitchFamily="18" charset="0"/>
                <a:cs typeface="Times New Roman" panose="02020603050405020304" pitchFamily="18" charset="0"/>
              </a:rPr>
              <a:t>Either a syntax error has been introduced into the code, caught by compilation in compiled languages; </a:t>
            </a:r>
          </a:p>
          <a:p>
            <a:r>
              <a:rPr lang="en-US" sz="2400" dirty="0">
                <a:latin typeface="Times New Roman" panose="02020603050405020304" pitchFamily="18" charset="0"/>
                <a:cs typeface="Times New Roman" panose="02020603050405020304" pitchFamily="18" charset="0"/>
              </a:rPr>
              <a:t>or a semantic error has been introduced into the application, causing one or more tests to fail; </a:t>
            </a:r>
          </a:p>
          <a:p>
            <a:r>
              <a:rPr lang="en-US" sz="2400" dirty="0">
                <a:latin typeface="Times New Roman" panose="02020603050405020304" pitchFamily="18" charset="0"/>
                <a:cs typeface="Times New Roman" panose="02020603050405020304" pitchFamily="18" charset="0"/>
              </a:rPr>
              <a:t>or there is a problem with the conﬁguration of the application or its environment (including the operating system). </a:t>
            </a:r>
          </a:p>
        </p:txBody>
      </p:sp>
    </p:spTree>
    <p:extLst>
      <p:ext uri="{BB962C8B-B14F-4D97-AF65-F5344CB8AC3E}">
        <p14:creationId xmlns:p14="http://schemas.microsoft.com/office/powerpoint/2010/main" val="23707502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 principles and practices</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In case of failures, the commit stage should notify the developers as soon as the commit tests are complete and provide a summary of the reasons for the failures, such as a list of failed tests, the compile errors, or any other error conditions.</a:t>
            </a:r>
          </a:p>
          <a:p>
            <a:r>
              <a:rPr lang="en-US" sz="2400" dirty="0">
                <a:latin typeface="Times New Roman" panose="02020603050405020304" pitchFamily="18" charset="0"/>
                <a:cs typeface="Times New Roman" panose="02020603050405020304" pitchFamily="18" charset="0"/>
              </a:rPr>
              <a:t>Errors are easiest to ﬁx if they are detected early.</a:t>
            </a:r>
          </a:p>
        </p:txBody>
      </p:sp>
    </p:spTree>
    <p:extLst>
      <p:ext uri="{BB962C8B-B14F-4D97-AF65-F5344CB8AC3E}">
        <p14:creationId xmlns:p14="http://schemas.microsoft.com/office/powerpoint/2010/main" val="696409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 principles and practices</a:t>
            </a:r>
          </a:p>
        </p:txBody>
      </p:sp>
      <p:sp>
        <p:nvSpPr>
          <p:cNvPr id="3" name="Content Placeholder 2"/>
          <p:cNvSpPr>
            <a:spLocks noGrp="1"/>
          </p:cNvSpPr>
          <p:nvPr>
            <p:ph idx="1"/>
          </p:nvPr>
        </p:nvSpPr>
        <p:spPr>
          <a:xfrm>
            <a:off x="1451579" y="1288474"/>
            <a:ext cx="9603275" cy="4177872"/>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What Should Break the Commit Stage? </a:t>
            </a:r>
          </a:p>
          <a:p>
            <a:r>
              <a:rPr lang="en-US" sz="2800" dirty="0">
                <a:latin typeface="Times New Roman" panose="02020603050405020304" pitchFamily="18" charset="0"/>
                <a:cs typeface="Times New Roman" panose="02020603050405020304" pitchFamily="18" charset="0"/>
              </a:rPr>
              <a:t>The commit stage is designed to fail in one of the circumstances listed above: </a:t>
            </a:r>
          </a:p>
          <a:p>
            <a:r>
              <a:rPr lang="en-US" sz="2800" dirty="0">
                <a:latin typeface="Times New Roman" panose="02020603050405020304" pitchFamily="18" charset="0"/>
                <a:cs typeface="Times New Roman" panose="02020603050405020304" pitchFamily="18" charset="0"/>
              </a:rPr>
              <a:t>Compilation fails, tests break, or there is an environmental problem.</a:t>
            </a:r>
          </a:p>
          <a:p>
            <a:r>
              <a:rPr lang="en-US" sz="2800" dirty="0">
                <a:latin typeface="Times New Roman" panose="02020603050405020304" pitchFamily="18" charset="0"/>
                <a:cs typeface="Times New Roman" panose="02020603050405020304" pitchFamily="18" charset="0"/>
              </a:rPr>
              <a:t>Otherwise, the commit stage succeeds, reporting that everything is OK</a:t>
            </a:r>
          </a:p>
        </p:txBody>
      </p:sp>
    </p:spTree>
    <p:extLst>
      <p:ext uri="{BB962C8B-B14F-4D97-AF65-F5344CB8AC3E}">
        <p14:creationId xmlns:p14="http://schemas.microsoft.com/office/powerpoint/2010/main" val="8018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525517"/>
          </a:xfrm>
        </p:spPr>
        <p:txBody>
          <a:bodyPr>
            <a:normAutofit fontScale="90000"/>
          </a:bodyPr>
          <a:lstStyle/>
          <a:p>
            <a:endParaRPr lang="en-US" dirty="0"/>
          </a:p>
        </p:txBody>
      </p:sp>
      <p:sp>
        <p:nvSpPr>
          <p:cNvPr id="3" name="Content Placeholder 2"/>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But consider the situation  if the tests pass but the quality of the code is bad.</a:t>
            </a:r>
          </a:p>
          <a:p>
            <a:r>
              <a:rPr lang="en-US" sz="2400" dirty="0">
                <a:latin typeface="Times New Roman" panose="02020603050405020304" pitchFamily="18" charset="0"/>
                <a:cs typeface="Times New Roman" panose="02020603050405020304" pitchFamily="18" charset="0"/>
              </a:rPr>
              <a:t> It should be possible to provide  a set of graphs representing code coverage and other metrics, upon completion of a commit stage run.</a:t>
            </a:r>
          </a:p>
          <a:p>
            <a:r>
              <a:rPr lang="en-US" sz="2400" dirty="0">
                <a:latin typeface="Times New Roman" panose="02020603050405020304" pitchFamily="18" charset="0"/>
                <a:cs typeface="Times New Roman" panose="02020603050405020304" pitchFamily="18" charset="0"/>
              </a:rPr>
              <a:t>This information could be aggregated using a series of thresholds into a trafﬁc lights display (red, amber, green) . </a:t>
            </a:r>
          </a:p>
        </p:txBody>
      </p:sp>
    </p:spTree>
    <p:extLst>
      <p:ext uri="{BB962C8B-B14F-4D97-AF65-F5344CB8AC3E}">
        <p14:creationId xmlns:p14="http://schemas.microsoft.com/office/powerpoint/2010/main" val="2935531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We could, for example, fail the commit stage if the code coverage drops below 60%, and have it pass but with the status of amber, not green, if it goes below 80%. </a:t>
            </a:r>
          </a:p>
          <a:p>
            <a:r>
              <a:rPr lang="en-US" sz="2800" dirty="0">
                <a:latin typeface="Times New Roman" panose="02020603050405020304" pitchFamily="18" charset="0"/>
                <a:cs typeface="Times New Roman" panose="02020603050405020304" pitchFamily="18" charset="0"/>
              </a:rPr>
              <a:t>if the commit stage fails, the rule is that the delivery team must immediately stop whatever they are doing and ﬁx it</a:t>
            </a:r>
          </a:p>
        </p:txBody>
      </p:sp>
    </p:spTree>
    <p:extLst>
      <p:ext uri="{BB962C8B-B14F-4D97-AF65-F5344CB8AC3E}">
        <p14:creationId xmlns:p14="http://schemas.microsoft.com/office/powerpoint/2010/main" val="3313345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 principles and practices</a:t>
            </a:r>
          </a:p>
        </p:txBody>
      </p:sp>
      <p:sp>
        <p:nvSpPr>
          <p:cNvPr id="3" name="Content Placeholder 2"/>
          <p:cNvSpPr>
            <a:spLocks noGrp="1"/>
          </p:cNvSpPr>
          <p:nvPr>
            <p:ph idx="1"/>
          </p:nvPr>
        </p:nvSpPr>
        <p:spPr>
          <a:xfrm>
            <a:off x="1451579" y="1385456"/>
            <a:ext cx="9603275" cy="4080890"/>
          </a:xfrm>
        </p:spPr>
        <p:txBody>
          <a:bodyPr>
            <a:normAutofit fontScale="92500" lnSpcReduction="2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Tend the Commit Stage Carefully </a:t>
            </a:r>
          </a:p>
          <a:p>
            <a:r>
              <a:rPr lang="en-US" sz="2800" dirty="0">
                <a:latin typeface="Times New Roman" panose="02020603050405020304" pitchFamily="18" charset="0"/>
                <a:cs typeface="Times New Roman" panose="02020603050405020304" pitchFamily="18" charset="0"/>
              </a:rPr>
              <a:t>The commit stage will include both build scripts and scripts to run unit tests, static analysis tools etc. These scripts need to be maintained carefully and treated with the same level of respect as you would treat any other part of your application</a:t>
            </a:r>
          </a:p>
          <a:p>
            <a:r>
              <a:rPr lang="en-US" sz="2800" dirty="0">
                <a:latin typeface="Times New Roman" panose="02020603050405020304" pitchFamily="18" charset="0"/>
                <a:cs typeface="Times New Roman" panose="02020603050405020304" pitchFamily="18" charset="0"/>
              </a:rPr>
              <a:t>Ensure that your scripts are modular.</a:t>
            </a:r>
          </a:p>
          <a:p>
            <a:r>
              <a:rPr lang="en-US" sz="2800" dirty="0">
                <a:latin typeface="Times New Roman" panose="02020603050405020304" pitchFamily="18" charset="0"/>
                <a:cs typeface="Times New Roman" panose="02020603050405020304" pitchFamily="18" charset="0"/>
              </a:rPr>
              <a:t>Structure them so as to keep common tasks, used all the time but rarely changing, separate from the tasks that you will be changing often, such as adding a new module to your codebase</a:t>
            </a:r>
          </a:p>
          <a:p>
            <a:endParaRPr lang="en-US" dirty="0"/>
          </a:p>
        </p:txBody>
      </p:sp>
    </p:spTree>
    <p:extLst>
      <p:ext uri="{BB962C8B-B14F-4D97-AF65-F5344CB8AC3E}">
        <p14:creationId xmlns:p14="http://schemas.microsoft.com/office/powerpoint/2010/main" val="19106222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74692"/>
            <a:ext cx="9603275" cy="1049235"/>
          </a:xfrm>
        </p:spPr>
        <p:txBody>
          <a:bodyPr/>
          <a:lstStyle/>
          <a:p>
            <a:r>
              <a:rPr lang="en-US" dirty="0"/>
              <a:t>Commit stage principles and practices</a:t>
            </a:r>
          </a:p>
        </p:txBody>
      </p:sp>
      <p:sp>
        <p:nvSpPr>
          <p:cNvPr id="3" name="Content Placeholder 2"/>
          <p:cNvSpPr>
            <a:spLocks noGrp="1"/>
          </p:cNvSpPr>
          <p:nvPr>
            <p:ph idx="1"/>
          </p:nvPr>
        </p:nvSpPr>
        <p:spPr>
          <a:xfrm>
            <a:off x="1451579" y="1399310"/>
            <a:ext cx="9603275" cy="4067036"/>
          </a:xfrm>
        </p:spPr>
        <p:txBody>
          <a:bodyPr>
            <a:normAutofit fontScale="92500" lnSpcReduction="10000"/>
          </a:bodyPr>
          <a:lstStyle/>
          <a:p>
            <a:r>
              <a:rPr lang="en-US" sz="2400" dirty="0">
                <a:solidFill>
                  <a:srgbClr val="FF0000"/>
                </a:solidFill>
                <a:latin typeface="Times New Roman" panose="02020603050405020304" pitchFamily="18" charset="0"/>
                <a:cs typeface="Times New Roman" panose="02020603050405020304" pitchFamily="18" charset="0"/>
              </a:rPr>
              <a:t>Give Developers Ownership </a:t>
            </a:r>
          </a:p>
          <a:p>
            <a:r>
              <a:rPr lang="en-US" sz="2400" dirty="0">
                <a:latin typeface="Times New Roman" panose="02020603050405020304" pitchFamily="18" charset="0"/>
                <a:cs typeface="Times New Roman" panose="02020603050405020304" pitchFamily="18" charset="0"/>
              </a:rPr>
              <a:t>Developers and operations people must feel comfortable with, and responsible for, the maintenance of their build system.</a:t>
            </a:r>
          </a:p>
          <a:p>
            <a:r>
              <a:rPr lang="en-US" sz="2400" dirty="0">
                <a:latin typeface="Times New Roman" panose="02020603050405020304" pitchFamily="18" charset="0"/>
                <a:cs typeface="Times New Roman" panose="02020603050405020304" pitchFamily="18" charset="0"/>
              </a:rPr>
              <a:t>At some organizations, there are teams of specialists who are experts at the creation of effective, modular build pipelines.</a:t>
            </a:r>
          </a:p>
          <a:p>
            <a:r>
              <a:rPr lang="en-US" sz="2400" dirty="0">
                <a:latin typeface="Times New Roman" panose="02020603050405020304" pitchFamily="18" charset="0"/>
                <a:cs typeface="Times New Roman" panose="02020603050405020304" pitchFamily="18" charset="0"/>
              </a:rPr>
              <a:t>This kind of activity should not be done by a build specialist</a:t>
            </a:r>
          </a:p>
          <a:p>
            <a:r>
              <a:rPr lang="en-US" sz="2400" dirty="0">
                <a:latin typeface="Times New Roman" panose="02020603050405020304" pitchFamily="18" charset="0"/>
                <a:cs typeface="Times New Roman" panose="02020603050405020304" pitchFamily="18" charset="0"/>
              </a:rPr>
              <a:t> The management of the environments such as adding new libraries, conﬁguration ﬁles, and so on, should be performed by developers and operations people working together </a:t>
            </a:r>
          </a:p>
          <a:p>
            <a:endParaRPr lang="en-US" dirty="0"/>
          </a:p>
        </p:txBody>
      </p:sp>
    </p:spTree>
    <p:extLst>
      <p:ext uri="{BB962C8B-B14F-4D97-AF65-F5344CB8AC3E}">
        <p14:creationId xmlns:p14="http://schemas.microsoft.com/office/powerpoint/2010/main" val="4030823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stage principles and practices</a:t>
            </a:r>
          </a:p>
        </p:txBody>
      </p:sp>
      <p:sp>
        <p:nvSpPr>
          <p:cNvPr id="3" name="Content Placeholder 2"/>
          <p:cNvSpPr>
            <a:spLocks noGrp="1"/>
          </p:cNvSpPr>
          <p:nvPr>
            <p:ph idx="1"/>
          </p:nvPr>
        </p:nvSpPr>
        <p:spPr>
          <a:xfrm>
            <a:off x="1451579" y="1399310"/>
            <a:ext cx="9603275" cy="4067036"/>
          </a:xfrm>
        </p:spPr>
        <p:txBody>
          <a:bodyPr/>
          <a:lstStyle/>
          <a:p>
            <a:pPr marL="0" indent="0">
              <a:buNone/>
            </a:pPr>
            <a:r>
              <a:rPr lang="en-US" sz="2400" dirty="0">
                <a:solidFill>
                  <a:srgbClr val="FF0000"/>
                </a:solidFill>
                <a:latin typeface="Times New Roman" panose="02020603050405020304" pitchFamily="18" charset="0"/>
                <a:cs typeface="Times New Roman" panose="02020603050405020304" pitchFamily="18" charset="0"/>
              </a:rPr>
              <a:t>Use a Build Master for Very Large Teams </a:t>
            </a:r>
          </a:p>
          <a:p>
            <a:r>
              <a:rPr lang="en-US" sz="2400" dirty="0">
                <a:latin typeface="Times New Roman" panose="02020603050405020304" pitchFamily="18" charset="0"/>
                <a:cs typeface="Times New Roman" panose="02020603050405020304" pitchFamily="18" charset="0"/>
              </a:rPr>
              <a:t>In small  teams of up to twenty or thirty individuals,  If the build is broken,  it is usually easy enough to locate the person or persons responsible and either remind them of the fact if they are not working on it</a:t>
            </a:r>
          </a:p>
          <a:p>
            <a:r>
              <a:rPr lang="en-US" sz="2400" dirty="0">
                <a:latin typeface="Times New Roman" panose="02020603050405020304" pitchFamily="18" charset="0"/>
                <a:cs typeface="Times New Roman" panose="02020603050405020304" pitchFamily="18" charset="0"/>
              </a:rPr>
              <a:t>In larger teams,  it is useful to have someone to play the role of a “build master.”</a:t>
            </a:r>
          </a:p>
          <a:p>
            <a:r>
              <a:rPr lang="en-US" sz="2400" dirty="0">
                <a:latin typeface="Times New Roman" panose="02020603050405020304" pitchFamily="18" charset="0"/>
                <a:cs typeface="Times New Roman" panose="02020603050405020304" pitchFamily="18" charset="0"/>
              </a:rPr>
              <a:t> Their job is to oversee and direct the maintenance of the build, but also to encourage and enforce build discipline</a:t>
            </a:r>
          </a:p>
        </p:txBody>
      </p:sp>
    </p:spTree>
    <p:extLst>
      <p:ext uri="{BB962C8B-B14F-4D97-AF65-F5344CB8AC3E}">
        <p14:creationId xmlns:p14="http://schemas.microsoft.com/office/powerpoint/2010/main" val="733200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If a build breaks, the build master notices and reminds of  the team to ﬁx the build quickly or back out their changes.</a:t>
            </a:r>
          </a:p>
          <a:p>
            <a:r>
              <a:rPr lang="en-US" sz="2800" dirty="0">
                <a:latin typeface="Times New Roman" panose="02020603050405020304" pitchFamily="18" charset="0"/>
                <a:cs typeface="Times New Roman" panose="02020603050405020304" pitchFamily="18" charset="0"/>
              </a:rPr>
              <a:t>The build master should never be a permanent role. </a:t>
            </a:r>
          </a:p>
          <a:p>
            <a:r>
              <a:rPr lang="en-US" sz="2800" dirty="0">
                <a:latin typeface="Times New Roman" panose="02020603050405020304" pitchFamily="18" charset="0"/>
                <a:cs typeface="Times New Roman" panose="02020603050405020304" pitchFamily="18" charset="0"/>
              </a:rPr>
              <a:t>Team members should rotate through it, on a weekly basis</a:t>
            </a:r>
          </a:p>
        </p:txBody>
      </p:sp>
    </p:spTree>
    <p:extLst>
      <p:ext uri="{BB962C8B-B14F-4D97-AF65-F5344CB8AC3E}">
        <p14:creationId xmlns:p14="http://schemas.microsoft.com/office/powerpoint/2010/main" val="41317119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result of  commit stage</a:t>
            </a:r>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The commit stage, like every stage in the deployment pipeline, has both inputs and outputs. </a:t>
            </a:r>
          </a:p>
          <a:p>
            <a:r>
              <a:rPr lang="en-US" sz="2800" dirty="0">
                <a:latin typeface="Times New Roman" pitchFamily="18" charset="0"/>
                <a:cs typeface="Times New Roman" pitchFamily="18" charset="0"/>
              </a:rPr>
              <a:t>The inputs are source code, and the outputs are binaries and reports.</a:t>
            </a:r>
          </a:p>
          <a:p>
            <a:r>
              <a:rPr lang="en-US" sz="2800" dirty="0">
                <a:latin typeface="Times New Roman" pitchFamily="18" charset="0"/>
                <a:cs typeface="Times New Roman" pitchFamily="18" charset="0"/>
              </a:rPr>
              <a:t>The reports produced include the test results, which are essential to work out what went wrong if the tests fail, and reports from analysis of the codebase.</a:t>
            </a:r>
          </a:p>
        </p:txBody>
      </p:sp>
    </p:spTree>
    <p:extLst>
      <p:ext uri="{BB962C8B-B14F-4D97-AF65-F5344CB8AC3E}">
        <p14:creationId xmlns:p14="http://schemas.microsoft.com/office/powerpoint/2010/main" val="30076167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Analysis reports can include things like test coverage, cut and paste analysis, and any other useful metrics that help establish the health of the codebase</a:t>
            </a:r>
          </a:p>
        </p:txBody>
      </p:sp>
    </p:spTree>
    <p:extLst>
      <p:ext uri="{BB962C8B-B14F-4D97-AF65-F5344CB8AC3E}">
        <p14:creationId xmlns:p14="http://schemas.microsoft.com/office/powerpoint/2010/main" val="19985551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1051577"/>
          </a:xfrm>
        </p:spPr>
        <p:txBody>
          <a:bodyPr/>
          <a:lstStyle/>
          <a:p>
            <a:r>
              <a:rPr lang="en-US" dirty="0"/>
              <a:t>The result of  commit stage</a:t>
            </a:r>
          </a:p>
        </p:txBody>
      </p:sp>
      <p:sp>
        <p:nvSpPr>
          <p:cNvPr id="3" name="Content Placeholder 2"/>
          <p:cNvSpPr>
            <a:spLocks noGrp="1"/>
          </p:cNvSpPr>
          <p:nvPr>
            <p:ph idx="1"/>
          </p:nvPr>
        </p:nvSpPr>
        <p:spPr>
          <a:xfrm>
            <a:off x="1451579" y="1296538"/>
            <a:ext cx="9603275" cy="4169808"/>
          </a:xfrm>
        </p:spPr>
        <p:txBody>
          <a:bodyPr>
            <a:normAutofit/>
          </a:bodyPr>
          <a:lstStyle/>
          <a:p>
            <a:r>
              <a:rPr lang="en-US" sz="3100" b="1" i="1" dirty="0"/>
              <a:t>The Artifact Repository</a:t>
            </a:r>
          </a:p>
          <a:p>
            <a:r>
              <a:rPr lang="en-US" sz="2800" dirty="0">
                <a:latin typeface="Times New Roman" pitchFamily="18" charset="0"/>
                <a:cs typeface="Times New Roman" pitchFamily="18" charset="0"/>
              </a:rPr>
              <a:t>Most modern continuous integration servers provide an artifact repository, including settings which allow unwanted artifacts to be removed after some length of time</a:t>
            </a:r>
          </a:p>
          <a:p>
            <a:r>
              <a:rPr lang="en-US" sz="2800" dirty="0">
                <a:latin typeface="Times New Roman" pitchFamily="18" charset="0"/>
                <a:cs typeface="Times New Roman" pitchFamily="18" charset="0"/>
              </a:rPr>
              <a:t>Alternatively, we could use a dedicated artifact repository like Nexus, or some other Maven-style repository manager, to handle.</a:t>
            </a:r>
          </a:p>
        </p:txBody>
      </p:sp>
    </p:spTree>
    <p:extLst>
      <p:ext uri="{BB962C8B-B14F-4D97-AF65-F5344CB8AC3E}">
        <p14:creationId xmlns:p14="http://schemas.microsoft.com/office/powerpoint/2010/main" val="14456086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1106167"/>
          </a:xfrm>
        </p:spPr>
        <p:txBody>
          <a:bodyPr>
            <a:normAutofit fontScale="90000"/>
          </a:bodyPr>
          <a:lstStyle/>
          <a:p>
            <a:pPr marL="228600" lvl="0" indent="-228600">
              <a:lnSpc>
                <a:spcPct val="120000"/>
              </a:lnSpc>
              <a:spcBef>
                <a:spcPts val="1000"/>
              </a:spcBef>
            </a:pPr>
            <a:br>
              <a:rPr lang="en-US" sz="2000" cap="none" dirty="0">
                <a:solidFill>
                  <a:prstClr val="black"/>
                </a:solidFill>
                <a:ea typeface="+mn-ea"/>
                <a:cs typeface="+mn-cs"/>
              </a:rPr>
            </a:br>
            <a:br>
              <a:rPr lang="en-US" sz="2000" cap="none" dirty="0">
                <a:solidFill>
                  <a:prstClr val="black"/>
                </a:solidFill>
                <a:ea typeface="+mn-ea"/>
                <a:cs typeface="+mn-cs"/>
              </a:rPr>
            </a:br>
            <a:r>
              <a:rPr lang="en-US" sz="2200" cap="none" dirty="0">
                <a:solidFill>
                  <a:prstClr val="black"/>
                </a:solidFill>
                <a:ea typeface="+mn-ea"/>
                <a:cs typeface="+mn-cs"/>
              </a:rPr>
              <a:t>Figure shows a diagram of the use of an artifact repository in a typical installation</a:t>
            </a:r>
            <a:br>
              <a:rPr lang="en-US" sz="2200" cap="none" dirty="0">
                <a:solidFill>
                  <a:prstClr val="black"/>
                </a:solidFill>
                <a:ea typeface="+mn-ea"/>
                <a:cs typeface="+mn-cs"/>
              </a:rPr>
            </a:br>
            <a:endParaRPr lang="en-US" sz="2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560" y="365760"/>
            <a:ext cx="11155680" cy="6492240"/>
          </a:xfrm>
        </p:spPr>
      </p:pic>
    </p:spTree>
    <p:extLst>
      <p:ext uri="{BB962C8B-B14F-4D97-AF65-F5344CB8AC3E}">
        <p14:creationId xmlns:p14="http://schemas.microsoft.com/office/powerpoint/2010/main" val="26745956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44575" y="501650"/>
            <a:ext cx="9604375" cy="4906963"/>
          </a:xfrm>
        </p:spPr>
        <p:txBody>
          <a:bodyPr>
            <a:normAutofit/>
          </a:bodyPr>
          <a:lstStyle/>
          <a:p>
            <a:r>
              <a:rPr lang="en-US" sz="2800" dirty="0"/>
              <a:t>The following details each step in the happy path of a release candidate that makes it successfully into production</a:t>
            </a:r>
            <a:endParaRPr lang="en-US" sz="2800" dirty="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marL="0" indent="0">
              <a:buNone/>
            </a:pPr>
            <a:r>
              <a:rPr lang="en-US" sz="2800" dirty="0">
                <a:latin typeface="Times New Roman" pitchFamily="18" charset="0"/>
                <a:cs typeface="Times New Roman" pitchFamily="18" charset="0"/>
              </a:rPr>
              <a:t>1. Somebody on your delivery team commits a change.</a:t>
            </a:r>
          </a:p>
          <a:p>
            <a:pPr marL="0" indent="0">
              <a:buNone/>
            </a:pPr>
            <a:r>
              <a:rPr lang="en-US" sz="2800" dirty="0">
                <a:latin typeface="Times New Roman" pitchFamily="18" charset="0"/>
                <a:cs typeface="Times New Roman" pitchFamily="18" charset="0"/>
              </a:rPr>
              <a:t>2. Your continuous integration server runs the commit stage.</a:t>
            </a:r>
          </a:p>
          <a:p>
            <a:pPr marL="0" indent="0">
              <a:buNone/>
            </a:pPr>
            <a:r>
              <a:rPr lang="en-US" sz="2800" dirty="0">
                <a:latin typeface="Times New Roman" pitchFamily="18" charset="0"/>
                <a:cs typeface="Times New Roman" pitchFamily="18" charset="0"/>
              </a:rPr>
              <a:t>3. On successful completion, the binary as well as any reports and metadata are saved to the artifact repository.</a:t>
            </a:r>
          </a:p>
        </p:txBody>
      </p:sp>
    </p:spTree>
    <p:extLst>
      <p:ext uri="{BB962C8B-B14F-4D97-AF65-F5344CB8AC3E}">
        <p14:creationId xmlns:p14="http://schemas.microsoft.com/office/powerpoint/2010/main" val="17589169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12763" y="952500"/>
            <a:ext cx="9602787" cy="3451225"/>
          </a:xfrm>
        </p:spPr>
        <p:txBody>
          <a:bodyPr>
            <a:noAutofit/>
          </a:bodyPr>
          <a:lstStyle/>
          <a:p>
            <a:pPr marL="0" indent="0">
              <a:buNone/>
            </a:pPr>
            <a:r>
              <a:rPr lang="en-US" sz="2800" dirty="0">
                <a:latin typeface="Times New Roman" pitchFamily="18" charset="0"/>
                <a:cs typeface="Times New Roman" pitchFamily="18" charset="0"/>
              </a:rPr>
              <a:t>4. Your CI server then retrieves the binaries created by the commit stage and deploys to a production-like test environment.</a:t>
            </a:r>
          </a:p>
          <a:p>
            <a:pPr marL="0" indent="0">
              <a:buNone/>
            </a:pPr>
            <a:r>
              <a:rPr lang="en-US" sz="2800" dirty="0">
                <a:latin typeface="Times New Roman" pitchFamily="18" charset="0"/>
                <a:cs typeface="Times New Roman" pitchFamily="18" charset="0"/>
              </a:rPr>
              <a:t>5. Your continuous integration server then runs the acceptance tests, reusing the binaries created by the commit stage.</a:t>
            </a:r>
          </a:p>
          <a:p>
            <a:pPr marL="0" indent="0">
              <a:buNone/>
            </a:pPr>
            <a:r>
              <a:rPr lang="en-US" sz="2800" dirty="0">
                <a:latin typeface="Times New Roman" pitchFamily="18" charset="0"/>
                <a:cs typeface="Times New Roman" pitchFamily="18" charset="0"/>
              </a:rPr>
              <a:t>6. On successful completion, the release candidate is marked as having passed the acceptance tests</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6546431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06500" y="863600"/>
            <a:ext cx="9604375" cy="3449638"/>
          </a:xfrm>
        </p:spPr>
        <p:txBody>
          <a:bodyPr>
            <a:noAutofit/>
          </a:bodyPr>
          <a:lstStyle/>
          <a:p>
            <a:pPr marL="0" indent="0">
              <a:buNone/>
            </a:pPr>
            <a:r>
              <a:rPr lang="en-US" sz="2800" dirty="0">
                <a:latin typeface="Times New Roman" pitchFamily="18" charset="0"/>
                <a:cs typeface="Times New Roman" pitchFamily="18" charset="0"/>
              </a:rPr>
              <a:t>7. Testers can obtain a list of all builds that have passed the acceptance tests, and can press a button to run the automated process to deploy them into a manual testing environment.</a:t>
            </a:r>
          </a:p>
          <a:p>
            <a:pPr marL="0" indent="0">
              <a:buNone/>
            </a:pPr>
            <a:r>
              <a:rPr lang="en-US" sz="2800" dirty="0">
                <a:latin typeface="Times New Roman" pitchFamily="18" charset="0"/>
                <a:cs typeface="Times New Roman" pitchFamily="18" charset="0"/>
              </a:rPr>
              <a:t>8. Testers perform manual testing.</a:t>
            </a:r>
          </a:p>
          <a:p>
            <a:pPr marL="0" indent="0">
              <a:buNone/>
            </a:pPr>
            <a:r>
              <a:rPr lang="en-US" sz="2800" dirty="0">
                <a:latin typeface="Times New Roman" pitchFamily="18" charset="0"/>
                <a:cs typeface="Times New Roman" pitchFamily="18" charset="0"/>
              </a:rPr>
              <a:t>9. On successful conclusion of manual testing, testers update the status of the release candidate to indicate it has passed </a:t>
            </a:r>
            <a:r>
              <a:rPr lang="en-US" sz="2800" b="1" dirty="0">
                <a:latin typeface="Times New Roman" pitchFamily="18" charset="0"/>
                <a:cs typeface="Times New Roman" pitchFamily="18" charset="0"/>
              </a:rPr>
              <a:t>manual testing</a:t>
            </a:r>
            <a:r>
              <a:rPr lang="en-US" sz="2800" dirty="0">
                <a:latin typeface="Times New Roman" pitchFamily="18" charset="0"/>
                <a:cs typeface="Times New Roman" pitchFamily="18" charset="0"/>
              </a:rPr>
              <a:t>.</a:t>
            </a:r>
          </a:p>
        </p:txBody>
      </p:sp>
    </p:spTree>
    <p:extLst>
      <p:ext uri="{BB962C8B-B14F-4D97-AF65-F5344CB8AC3E}">
        <p14:creationId xmlns:p14="http://schemas.microsoft.com/office/powerpoint/2010/main" val="31955093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25525" y="911225"/>
            <a:ext cx="9604375" cy="3449638"/>
          </a:xfrm>
        </p:spPr>
        <p:txBody>
          <a:bodyPr>
            <a:normAutofit/>
          </a:bodyPr>
          <a:lstStyle/>
          <a:p>
            <a:pPr marL="0" indent="0">
              <a:buNone/>
            </a:pPr>
            <a:r>
              <a:rPr lang="en-US" sz="2400" dirty="0">
                <a:latin typeface="Times New Roman" pitchFamily="18" charset="0"/>
                <a:cs typeface="Times New Roman" pitchFamily="18" charset="0"/>
              </a:rPr>
              <a:t>10. Your CI server retrieves the latest candidate that has passed acceptance</a:t>
            </a:r>
          </a:p>
          <a:p>
            <a:pPr marL="0" indent="0">
              <a:buNone/>
            </a:pPr>
            <a:r>
              <a:rPr lang="en-US" sz="2400" dirty="0">
                <a:latin typeface="Times New Roman" pitchFamily="18" charset="0"/>
                <a:cs typeface="Times New Roman" pitchFamily="18" charset="0"/>
              </a:rPr>
              <a:t>testing, or manual testing depending on the pipeline configuration, from the</a:t>
            </a:r>
          </a:p>
          <a:p>
            <a:pPr marL="0" indent="0">
              <a:buNone/>
            </a:pPr>
            <a:r>
              <a:rPr lang="en-US" sz="2400" dirty="0">
                <a:latin typeface="Times New Roman" pitchFamily="18" charset="0"/>
                <a:cs typeface="Times New Roman" pitchFamily="18" charset="0"/>
              </a:rPr>
              <a:t>artifact repository and deploys the application to the production test</a:t>
            </a:r>
          </a:p>
          <a:p>
            <a:pPr marL="0" indent="0">
              <a:buNone/>
            </a:pPr>
            <a:r>
              <a:rPr lang="en-US" sz="2400" dirty="0">
                <a:latin typeface="Times New Roman" pitchFamily="18" charset="0"/>
                <a:cs typeface="Times New Roman" pitchFamily="18" charset="0"/>
              </a:rPr>
              <a:t>environment.</a:t>
            </a:r>
          </a:p>
          <a:p>
            <a:pPr marL="0" indent="0">
              <a:buNone/>
            </a:pPr>
            <a:r>
              <a:rPr lang="en-US" sz="2400" dirty="0">
                <a:latin typeface="Times New Roman" pitchFamily="18" charset="0"/>
                <a:cs typeface="Times New Roman" pitchFamily="18" charset="0"/>
              </a:rPr>
              <a:t>11. The capacity tests are run against the release candidate.</a:t>
            </a:r>
          </a:p>
          <a:p>
            <a:pPr marL="0" indent="0">
              <a:buNone/>
            </a:pPr>
            <a:r>
              <a:rPr lang="en-US" sz="2400" dirty="0">
                <a:latin typeface="Times New Roman" pitchFamily="18" charset="0"/>
                <a:cs typeface="Times New Roman" pitchFamily="18" charset="0"/>
              </a:rPr>
              <a:t>12. If successful, the status of the candidate is updated to “capacity-tested.”</a:t>
            </a:r>
          </a:p>
        </p:txBody>
      </p:sp>
    </p:spTree>
    <p:extLst>
      <p:ext uri="{BB962C8B-B14F-4D97-AF65-F5344CB8AC3E}">
        <p14:creationId xmlns:p14="http://schemas.microsoft.com/office/powerpoint/2010/main" val="39094459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82650" y="1187450"/>
            <a:ext cx="9604375" cy="3449638"/>
          </a:xfrm>
        </p:spPr>
        <p:txBody>
          <a:bodyPr>
            <a:noAutofit/>
          </a:bodyPr>
          <a:lstStyle/>
          <a:p>
            <a:pPr marL="0" indent="0">
              <a:buNone/>
            </a:pPr>
            <a:r>
              <a:rPr lang="en-US" sz="2400" dirty="0">
                <a:latin typeface="Times New Roman" pitchFamily="18" charset="0"/>
                <a:cs typeface="Times New Roman" pitchFamily="18" charset="0"/>
              </a:rPr>
              <a:t>13. This pattern is repeated for as many stages as the pipeline requires.</a:t>
            </a:r>
          </a:p>
          <a:p>
            <a:pPr marL="0" indent="0">
              <a:buNone/>
            </a:pPr>
            <a:r>
              <a:rPr lang="en-US" sz="2400" dirty="0">
                <a:latin typeface="Times New Roman" pitchFamily="18" charset="0"/>
                <a:cs typeface="Times New Roman" pitchFamily="18" charset="0"/>
              </a:rPr>
              <a:t>14. Once the RC has passed through all of the relevant stages, it is “ready for</a:t>
            </a:r>
          </a:p>
          <a:p>
            <a:pPr marL="0" indent="0">
              <a:buNone/>
            </a:pPr>
            <a:r>
              <a:rPr lang="en-US" sz="2400" dirty="0">
                <a:latin typeface="Times New Roman" pitchFamily="18" charset="0"/>
                <a:cs typeface="Times New Roman" pitchFamily="18" charset="0"/>
              </a:rPr>
              <a:t>release,” and can be released by anybody with the appropriate authorization,</a:t>
            </a:r>
          </a:p>
          <a:p>
            <a:pPr marL="0" indent="0">
              <a:buNone/>
            </a:pPr>
            <a:r>
              <a:rPr lang="en-US" sz="2400" dirty="0">
                <a:latin typeface="Times New Roman" pitchFamily="18" charset="0"/>
                <a:cs typeface="Times New Roman" pitchFamily="18" charset="0"/>
              </a:rPr>
              <a:t>usually a combination of sign-off by QA and operations people.</a:t>
            </a:r>
          </a:p>
          <a:p>
            <a:pPr marL="0" indent="0">
              <a:buNone/>
            </a:pPr>
            <a:r>
              <a:rPr lang="en-US" sz="2400" dirty="0">
                <a:latin typeface="Times New Roman" pitchFamily="18" charset="0"/>
                <a:cs typeface="Times New Roman" pitchFamily="18" charset="0"/>
              </a:rPr>
              <a:t>15. At the conclusion of the release process, the RC is marked as “released.”</a:t>
            </a:r>
          </a:p>
        </p:txBody>
      </p:sp>
    </p:spTree>
    <p:extLst>
      <p:ext uri="{BB962C8B-B14F-4D97-AF65-F5344CB8AC3E}">
        <p14:creationId xmlns:p14="http://schemas.microsoft.com/office/powerpoint/2010/main" val="35620010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test suite principles and practices</a:t>
            </a:r>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The most important property of unit tests is that they should be very fast to execute. Sometimes we fail the build if the suite isn’t sufficiently fast. </a:t>
            </a:r>
          </a:p>
          <a:p>
            <a:r>
              <a:rPr lang="en-US" sz="2800" dirty="0">
                <a:latin typeface="Times New Roman" pitchFamily="18" charset="0"/>
                <a:cs typeface="Times New Roman" pitchFamily="18" charset="0"/>
              </a:rPr>
              <a:t>The second important property is that they should cover a large proportion of the codebase (around 80% is a good rule of thumb), giving you a good level of confidence that when they pass, the application is fairly likely to be working.</a:t>
            </a:r>
          </a:p>
        </p:txBody>
      </p:sp>
    </p:spTree>
    <p:extLst>
      <p:ext uri="{BB962C8B-B14F-4D97-AF65-F5344CB8AC3E}">
        <p14:creationId xmlns:p14="http://schemas.microsoft.com/office/powerpoint/2010/main" val="42873897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test suite principles and practices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Mike Cohn has a good way of visualizing how we should structure our automated test suite</a:t>
            </a:r>
          </a:p>
          <a:p>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2068128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test suite principles and practices</a:t>
            </a:r>
          </a:p>
        </p:txBody>
      </p:sp>
      <p:sp>
        <p:nvSpPr>
          <p:cNvPr id="3" name="Content Placeholder 2"/>
          <p:cNvSpPr>
            <a:spLocks noGrp="1"/>
          </p:cNvSpPr>
          <p:nvPr>
            <p:ph idx="1"/>
          </p:nvPr>
        </p:nvSpPr>
        <p:spPr>
          <a:xfrm>
            <a:off x="1451579" y="1460310"/>
            <a:ext cx="9603275" cy="4006035"/>
          </a:xfrm>
        </p:spPr>
        <p:txBody>
          <a:bodyPr>
            <a:normAutofit fontScale="85000" lnSpcReduction="10000"/>
          </a:bodyPr>
          <a:lstStyle/>
          <a:p>
            <a:pPr marL="0" indent="0">
              <a:buNone/>
            </a:pPr>
            <a:endParaRPr lang="en-US" sz="2800" b="1" i="1" dirty="0">
              <a:latin typeface="Times New Roman" pitchFamily="18" charset="0"/>
              <a:cs typeface="Times New Roman" pitchFamily="18" charset="0"/>
            </a:endParaRPr>
          </a:p>
          <a:p>
            <a:pPr marL="0" indent="0">
              <a:buNone/>
            </a:pPr>
            <a:r>
              <a:rPr lang="en-US" sz="2800" b="1" i="1" dirty="0">
                <a:solidFill>
                  <a:srgbClr val="FF0000"/>
                </a:solidFill>
                <a:latin typeface="Times New Roman" pitchFamily="18" charset="0"/>
                <a:cs typeface="Times New Roman" pitchFamily="18" charset="0"/>
              </a:rPr>
              <a:t>Avoid the User Interface</a:t>
            </a:r>
          </a:p>
          <a:p>
            <a:pPr marL="0" indent="0">
              <a:buNone/>
            </a:pPr>
            <a:r>
              <a:rPr lang="en-US" sz="2800" dirty="0">
                <a:latin typeface="Times New Roman" pitchFamily="18" charset="0"/>
                <a:cs typeface="Times New Roman" pitchFamily="18" charset="0"/>
              </a:rPr>
              <a:t>For the purposes of commit tests, it is not recommended to test via the UI </a:t>
            </a:r>
          </a:p>
          <a:p>
            <a:pPr marL="0" indent="0">
              <a:buNone/>
            </a:pPr>
            <a:r>
              <a:rPr lang="en-US" sz="2800" dirty="0">
                <a:latin typeface="Times New Roman" pitchFamily="18" charset="0"/>
                <a:cs typeface="Times New Roman" pitchFamily="18" charset="0"/>
              </a:rPr>
              <a:t>The difficulty with UI testing is twofold.</a:t>
            </a:r>
          </a:p>
          <a:p>
            <a:pPr marL="0" indent="0">
              <a:buNone/>
            </a:pPr>
            <a:r>
              <a:rPr lang="en-US" sz="2800" dirty="0">
                <a:latin typeface="Times New Roman" pitchFamily="18" charset="0"/>
                <a:cs typeface="Times New Roman" pitchFamily="18" charset="0"/>
              </a:rPr>
              <a:t> First, it  involves a lot of components or levels of the software under test.</a:t>
            </a:r>
          </a:p>
          <a:p>
            <a:pPr marL="0" indent="0">
              <a:buNone/>
            </a:pPr>
            <a:r>
              <a:rPr lang="en-US" sz="2800" dirty="0">
                <a:latin typeface="Times New Roman" pitchFamily="18" charset="0"/>
                <a:cs typeface="Times New Roman" pitchFamily="18" charset="0"/>
              </a:rPr>
              <a:t>Second, UIs are designed to work at human timescales which, compared to computer timescales, are desperately slow.</a:t>
            </a:r>
          </a:p>
        </p:txBody>
      </p:sp>
    </p:spTree>
    <p:extLst>
      <p:ext uri="{BB962C8B-B14F-4D97-AF65-F5344CB8AC3E}">
        <p14:creationId xmlns:p14="http://schemas.microsoft.com/office/powerpoint/2010/main" val="24371088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800" b="1" i="1" dirty="0">
                <a:solidFill>
                  <a:srgbClr val="FF0000"/>
                </a:solidFill>
                <a:latin typeface="Times New Roman" pitchFamily="18" charset="0"/>
                <a:cs typeface="Times New Roman" pitchFamily="18" charset="0"/>
              </a:rPr>
              <a:t>Avoid the Database</a:t>
            </a:r>
          </a:p>
          <a:p>
            <a:r>
              <a:rPr lang="en-US" sz="2800" dirty="0">
                <a:latin typeface="Times New Roman" pitchFamily="18" charset="0"/>
                <a:cs typeface="Times New Roman" pitchFamily="18" charset="0"/>
              </a:rPr>
              <a:t>The unit tests that form the bulk of your commit tests should never rely on the database. </a:t>
            </a:r>
          </a:p>
          <a:p>
            <a:r>
              <a:rPr lang="en-US" sz="2800" dirty="0">
                <a:latin typeface="Times New Roman" pitchFamily="18" charset="0"/>
                <a:cs typeface="Times New Roman" pitchFamily="18" charset="0"/>
              </a:rPr>
              <a:t>To achieve this, we should be able to separate the code under test from its storage. This requires good layering in the code.</a:t>
            </a:r>
          </a:p>
        </p:txBody>
      </p:sp>
    </p:spTree>
    <p:extLst>
      <p:ext uri="{BB962C8B-B14F-4D97-AF65-F5344CB8AC3E}">
        <p14:creationId xmlns:p14="http://schemas.microsoft.com/office/powerpoint/2010/main" val="22499991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51579" y="2015732"/>
            <a:ext cx="9603275" cy="3811862"/>
          </a:xfrm>
        </p:spPr>
        <p:txBody>
          <a:bodyPr>
            <a:noAutofit/>
          </a:bodyPr>
          <a:lstStyle/>
          <a:p>
            <a:pPr marL="0" indent="0">
              <a:buNone/>
            </a:pPr>
            <a:r>
              <a:rPr lang="en-US" sz="2400" b="1" i="1" dirty="0">
                <a:solidFill>
                  <a:srgbClr val="FF0000"/>
                </a:solidFill>
                <a:latin typeface="Times New Roman" pitchFamily="18" charset="0"/>
                <a:cs typeface="Times New Roman" pitchFamily="18" charset="0"/>
              </a:rPr>
              <a:t>Using Test Doubles</a:t>
            </a:r>
          </a:p>
          <a:p>
            <a:pPr marL="0" indent="0">
              <a:buNone/>
            </a:pPr>
            <a:r>
              <a:rPr lang="en-US" sz="2400" dirty="0">
                <a:latin typeface="Times New Roman" pitchFamily="18" charset="0"/>
                <a:cs typeface="Times New Roman" pitchFamily="18" charset="0"/>
              </a:rPr>
              <a:t>The ideal unit tests are focused on a small, closely related number of code</a:t>
            </a:r>
          </a:p>
          <a:p>
            <a:pPr marL="0" indent="0">
              <a:buNone/>
            </a:pPr>
            <a:r>
              <a:rPr lang="en-US" sz="2400" dirty="0">
                <a:latin typeface="Times New Roman" pitchFamily="18" charset="0"/>
                <a:cs typeface="Times New Roman" pitchFamily="18" charset="0"/>
              </a:rPr>
              <a:t>components, typically a single class or a few closely related classes.</a:t>
            </a:r>
          </a:p>
          <a:p>
            <a:pPr marL="0" indent="0">
              <a:buNone/>
            </a:pPr>
            <a:r>
              <a:rPr lang="en-US" sz="2400" dirty="0">
                <a:latin typeface="Times New Roman" pitchFamily="18" charset="0"/>
                <a:cs typeface="Times New Roman" pitchFamily="18" charset="0"/>
              </a:rPr>
              <a:t>The use of test doubles are very effective in this case.</a:t>
            </a:r>
          </a:p>
          <a:p>
            <a:pPr marL="0" indent="0">
              <a:buNone/>
            </a:pPr>
            <a:endParaRPr lang="en-US" sz="2400" b="1" i="1" dirty="0"/>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5643072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400" dirty="0">
                <a:solidFill>
                  <a:srgbClr val="FF0000"/>
                </a:solidFill>
                <a:latin typeface="Times New Roman" pitchFamily="18" charset="0"/>
                <a:cs typeface="Times New Roman" pitchFamily="18" charset="0"/>
              </a:rPr>
              <a:t>Brute  Force</a:t>
            </a:r>
          </a:p>
          <a:p>
            <a:pPr marL="0" indent="0">
              <a:buNone/>
            </a:pPr>
            <a:r>
              <a:rPr lang="en-US" sz="2400" dirty="0">
                <a:latin typeface="Times New Roman" pitchFamily="18" charset="0"/>
                <a:cs typeface="Times New Roman" pitchFamily="18" charset="0"/>
              </a:rPr>
              <a:t>Developers will always argue for the fastest commit cycle. </a:t>
            </a:r>
          </a:p>
          <a:p>
            <a:pPr marL="0" indent="0">
              <a:buNone/>
            </a:pPr>
            <a:r>
              <a:rPr lang="en-US" sz="2400" dirty="0">
                <a:latin typeface="Times New Roman" pitchFamily="18" charset="0"/>
                <a:cs typeface="Times New Roman" pitchFamily="18" charset="0"/>
              </a:rPr>
              <a:t>This need must be balanced with the commit stage’s ability to identify the most common errors that you are likely to introduce. </a:t>
            </a:r>
          </a:p>
        </p:txBody>
      </p:sp>
    </p:spTree>
    <p:extLst>
      <p:ext uri="{BB962C8B-B14F-4D97-AF65-F5344CB8AC3E}">
        <p14:creationId xmlns:p14="http://schemas.microsoft.com/office/powerpoint/2010/main" val="22417587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2400" dirty="0">
                <a:latin typeface="Times New Roman" pitchFamily="18" charset="0"/>
                <a:cs typeface="Times New Roman" pitchFamily="18" charset="0"/>
              </a:rPr>
              <a:t>This is an optimization process that can only work through trial and error. </a:t>
            </a:r>
          </a:p>
          <a:p>
            <a:pPr marL="0" indent="0">
              <a:buNone/>
            </a:pPr>
            <a:r>
              <a:rPr lang="en-US" sz="2400" dirty="0">
                <a:latin typeface="Times New Roman" pitchFamily="18" charset="0"/>
                <a:cs typeface="Times New Roman" pitchFamily="18" charset="0"/>
              </a:rPr>
              <a:t>Sometimes, it is better to accept a slower commit stage than to spend too much time optimizing the tests for speed or reducing the proportion of bugs they catch.</a:t>
            </a:r>
          </a:p>
          <a:p>
            <a:pPr marL="0" indent="0">
              <a:buNone/>
            </a:pPr>
            <a:r>
              <a:rPr lang="en-US" sz="2400">
                <a:latin typeface="Times New Roman" pitchFamily="18" charset="0"/>
                <a:cs typeface="Times New Roman" pitchFamily="18" charset="0"/>
              </a:rPr>
              <a:t>Modern </a:t>
            </a:r>
            <a:r>
              <a:rPr lang="en-US" sz="2400" dirty="0">
                <a:latin typeface="Times New Roman" pitchFamily="18" charset="0"/>
                <a:cs typeface="Times New Roman" pitchFamily="18" charset="0"/>
              </a:rPr>
              <a:t>CI servers have “build grid” functionality that makes easy test execution</a:t>
            </a:r>
          </a:p>
          <a:p>
            <a:pPr marL="0" indent="0">
              <a:buNone/>
            </a:pPr>
            <a:r>
              <a:rPr lang="en-US" sz="2400" dirty="0" err="1">
                <a:latin typeface="Times New Roman" pitchFamily="18" charset="0"/>
                <a:cs typeface="Times New Roman" pitchFamily="18" charset="0"/>
              </a:rPr>
              <a:t>Example:selenium</a:t>
            </a:r>
            <a:r>
              <a:rPr lang="en-US" sz="2400" dirty="0">
                <a:latin typeface="Times New Roman" pitchFamily="18" charset="0"/>
                <a:cs typeface="Times New Roman" pitchFamily="18" charset="0"/>
              </a:rPr>
              <a:t> grid on </a:t>
            </a:r>
            <a:r>
              <a:rPr lang="en-US" sz="2400" dirty="0" err="1">
                <a:latin typeface="Times New Roman" pitchFamily="18" charset="0"/>
                <a:cs typeface="Times New Roman" pitchFamily="18" charset="0"/>
              </a:rPr>
              <a:t>jenkins</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13773410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2726</TotalTime>
  <Words>4537</Words>
  <Application>Microsoft Office PowerPoint</Application>
  <PresentationFormat>Widescreen</PresentationFormat>
  <Paragraphs>286</Paragraphs>
  <Slides>78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Calibri</vt:lpstr>
      <vt:lpstr>Gill Sans MT</vt:lpstr>
      <vt:lpstr>Times New Roman</vt:lpstr>
      <vt:lpstr>Wingdings</vt:lpstr>
      <vt:lpstr>Gallery</vt:lpstr>
      <vt:lpstr>MODULE 3</vt:lpstr>
      <vt:lpstr>What Is a Deployment Pipeline?</vt:lpstr>
      <vt:lpstr>What Is a Deployment Pipeline?</vt:lpstr>
      <vt:lpstr>Changes moving through the deployment pipeline</vt:lpstr>
      <vt:lpstr>PowerPoint Presentation</vt:lpstr>
      <vt:lpstr>PowerPoint Presentation</vt:lpstr>
      <vt:lpstr>PowerPoint Presentation</vt:lpstr>
      <vt:lpstr>PowerPoint Presentation</vt:lpstr>
      <vt:lpstr>A Basic Deployment Pipeline </vt:lpstr>
      <vt:lpstr>PowerPoint Presentation</vt:lpstr>
      <vt:lpstr>PowerPoint Presentation</vt:lpstr>
      <vt:lpstr>Deployment pipeline practises</vt:lpstr>
      <vt:lpstr>PowerPoint Presentation</vt:lpstr>
      <vt:lpstr>PowerPoint Presentation</vt:lpstr>
      <vt:lpstr>PowerPoint Presentation</vt:lpstr>
      <vt:lpstr>PowerPoint Presentation</vt:lpstr>
      <vt:lpstr>PowerPoint Presentation</vt:lpstr>
      <vt:lpstr>Deployment pipeline practises</vt:lpstr>
      <vt:lpstr>Build and deployment scripting</vt:lpstr>
      <vt:lpstr>PowerPoint Presentation</vt:lpstr>
      <vt:lpstr>An Overview of Build Tools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types of build tools</vt:lpstr>
      <vt:lpstr>PowerPoint Presentation</vt:lpstr>
      <vt:lpstr>Different types of build tools</vt:lpstr>
      <vt:lpstr>Different types of build tools</vt:lpstr>
      <vt:lpstr>PowerPoint Presentation</vt:lpstr>
      <vt:lpstr>Different types of build tools</vt:lpstr>
      <vt:lpstr>PowerPoint Presentation</vt:lpstr>
      <vt:lpstr>Different types of build tools</vt:lpstr>
      <vt:lpstr>Different types of build tools</vt:lpstr>
      <vt:lpstr>Principles and Practices of Build and Deployment Scripting</vt:lpstr>
      <vt:lpstr>PowerPoint Presentation</vt:lpstr>
      <vt:lpstr>Principles and Practices of Build and Deployment Scripting</vt:lpstr>
      <vt:lpstr>PowerPoint Presentation</vt:lpstr>
      <vt:lpstr>Principles and Practices of Build and Deployment Scripting</vt:lpstr>
      <vt:lpstr>PowerPoint Presentation</vt:lpstr>
      <vt:lpstr>PowerPoint Presentation</vt:lpstr>
      <vt:lpstr>Principles and Practices of Build and Deployment Scripting</vt:lpstr>
      <vt:lpstr>PowerPoint Presentation</vt:lpstr>
      <vt:lpstr>PowerPoint Presentation</vt:lpstr>
      <vt:lpstr>PowerPoint Presentation</vt:lpstr>
      <vt:lpstr>Commit stage</vt:lpstr>
      <vt:lpstr>Commit stage</vt:lpstr>
      <vt:lpstr>PowerPoint Presentation</vt:lpstr>
      <vt:lpstr>PowerPoint Presentation</vt:lpstr>
      <vt:lpstr>Commit stage principles and practices</vt:lpstr>
      <vt:lpstr>Commit stage principles and practices</vt:lpstr>
      <vt:lpstr>Commit stage principles and practices</vt:lpstr>
      <vt:lpstr>PowerPoint Presentation</vt:lpstr>
      <vt:lpstr>PowerPoint Presentation</vt:lpstr>
      <vt:lpstr>Commit stage principles and practices</vt:lpstr>
      <vt:lpstr>Commit stage principles and practices</vt:lpstr>
      <vt:lpstr>Commit stage principles and practices</vt:lpstr>
      <vt:lpstr>PowerPoint Presentation</vt:lpstr>
      <vt:lpstr>The result of  commit stage</vt:lpstr>
      <vt:lpstr>PowerPoint Presentation</vt:lpstr>
      <vt:lpstr>The result of  commit stage</vt:lpstr>
      <vt:lpstr>  Figure shows a diagram of the use of an artifact repository in a typical installation </vt:lpstr>
      <vt:lpstr>PowerPoint Presentation</vt:lpstr>
      <vt:lpstr>PowerPoint Presentation</vt:lpstr>
      <vt:lpstr>PowerPoint Presentation</vt:lpstr>
      <vt:lpstr>PowerPoint Presentation</vt:lpstr>
      <vt:lpstr>PowerPoint Presentation</vt:lpstr>
      <vt:lpstr>Commit test suite principles and practices</vt:lpstr>
      <vt:lpstr>Commit test suite principles and practices</vt:lpstr>
      <vt:lpstr>Commit test suite principles and practices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Jetty</dc:creator>
  <cp:lastModifiedBy>lakshmipradeep0604@gmail.com</cp:lastModifiedBy>
  <cp:revision>272</cp:revision>
  <dcterms:created xsi:type="dcterms:W3CDTF">2017-02-03T21:24:40Z</dcterms:created>
  <dcterms:modified xsi:type="dcterms:W3CDTF">2021-07-19T02:09:35Z</dcterms:modified>
</cp:coreProperties>
</file>